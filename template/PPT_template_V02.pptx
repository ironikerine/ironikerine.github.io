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2" r:id="rId1"/>
  </p:sldMasterIdLst>
  <p:notesMasterIdLst>
    <p:notesMasterId r:id="rId6"/>
  </p:notesMasterIdLst>
  <p:sldIdLst>
    <p:sldId id="323" r:id="rId2"/>
    <p:sldId id="324" r:id="rId3"/>
    <p:sldId id="414" r:id="rId4"/>
    <p:sldId id="306" r:id="rId5"/>
  </p:sldIdLst>
  <p:sldSz cx="12192000" cy="6858000"/>
  <p:notesSz cx="6858000" cy="9144000"/>
  <p:embeddedFontLst>
    <p:embeddedFont>
      <p:font typeface="Noto Sans KR ExtraBold" panose="020B0200000000000000" pitchFamily="50" charset="-127"/>
      <p:bold r:id="rId7"/>
    </p:embeddedFont>
    <p:embeddedFont>
      <p:font typeface="Noto Sans KR Light" panose="020B0200000000000000" pitchFamily="50" charset="-127"/>
      <p:regular r:id="rId8"/>
    </p:embeddedFont>
    <p:embeddedFont>
      <p:font typeface="Noto Sans KR Medium" panose="020B0200000000000000" pitchFamily="50" charset="-127"/>
      <p:regular r:id="rId9"/>
    </p:embeddedFont>
    <p:embeddedFont>
      <p:font typeface="Noto Sans KR SemiBold" panose="020B0200000000000000" pitchFamily="50" charset="-127"/>
      <p:bold r:id="rId1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4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00286F"/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49" autoAdjust="0"/>
    <p:restoredTop sz="96000" autoAdjust="0"/>
  </p:normalViewPr>
  <p:slideViewPr>
    <p:cSldViewPr snapToGrid="0">
      <p:cViewPr varScale="1">
        <p:scale>
          <a:sx n="124" d="100"/>
          <a:sy n="124" d="100"/>
        </p:scale>
        <p:origin x="405" y="54"/>
      </p:cViewPr>
      <p:guideLst>
        <p:guide orient="horz" pos="754"/>
        <p:guide pos="48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1pPr>
          </a:lstStyle>
          <a:p>
            <a:pPr>
              <a:defRPr lang="ko-KR"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1pPr>
          </a:lstStyle>
          <a:p>
            <a:pPr>
              <a:defRPr lang="ko-KR"/>
            </a:pPr>
            <a:fld id="{9F841019-9F18-413F-B26E-0F558C84ABD5}" type="datetime1">
              <a:rPr lang="ko-KR" altLang="en-US" smtClean="0"/>
              <a:pPr>
                <a:defRPr lang="ko-KR"/>
              </a:pPr>
              <a:t>2024-10-05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/>
            </a:pPr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/>
            </a:pPr>
            <a:r>
              <a:rPr lang="ko-KR" altLang="en-US" dirty="0"/>
              <a:t>마스터 텍스트 스타일을 편집하려면 클릭</a:t>
            </a:r>
          </a:p>
          <a:p>
            <a:pPr lvl="1">
              <a:defRPr lang="ko-KR"/>
            </a:pPr>
            <a:r>
              <a:rPr lang="ko-KR" altLang="en-US" dirty="0"/>
              <a:t>두 번째 수준</a:t>
            </a:r>
          </a:p>
          <a:p>
            <a:pPr lvl="2">
              <a:defRPr lang="ko-KR"/>
            </a:pPr>
            <a:r>
              <a:rPr lang="ko-KR" altLang="en-US" dirty="0"/>
              <a:t>세 번째 수준</a:t>
            </a:r>
          </a:p>
          <a:p>
            <a:pPr lvl="3">
              <a:defRPr lang="ko-KR"/>
            </a:pPr>
            <a:r>
              <a:rPr lang="ko-KR" altLang="en-US" dirty="0"/>
              <a:t>네 번째 수준</a:t>
            </a:r>
          </a:p>
          <a:p>
            <a:pPr lvl="4">
              <a:defRPr lang="ko-KR"/>
            </a:pPr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1pPr>
          </a:lstStyle>
          <a:p>
            <a:pPr>
              <a:defRPr lang="ko-KR"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1pPr>
          </a:lstStyle>
          <a:p>
            <a:pPr>
              <a:defRPr lang="ko-KR"/>
            </a:pPr>
            <a:fld id="{BD583F59-9E60-4ADF-A2BF-D60AC9F9208C}" type="slidenum">
              <a:rPr lang="ko-KR" altLang="en-US" smtClean="0"/>
              <a:pPr>
                <a:defRPr lang="ko-KR"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 Light" panose="020B0200000000000000" pitchFamily="50" charset="-127"/>
        <a:ea typeface="Noto Sans KR Light" panose="020B02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KR Light" panose="020B0200000000000000" pitchFamily="50" charset="-127"/>
        <a:ea typeface="Noto Sans KR Light" panose="020B02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KR Light" panose="020B0200000000000000" pitchFamily="50" charset="-127"/>
        <a:ea typeface="Noto Sans KR Light" panose="020B02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KR Light" panose="020B0200000000000000" pitchFamily="50" charset="-127"/>
        <a:ea typeface="Noto Sans KR Light" panose="020B02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KR Light" panose="020B0200000000000000" pitchFamily="50" charset="-127"/>
        <a:ea typeface="Noto Sans KR Light" panose="020B02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endParaRPr lang="en-US" altLang="ko-KR" dirty="0"/>
          </a:p>
          <a:p>
            <a:r>
              <a:rPr lang="ko-KR" altLang="en-US" dirty="0"/>
              <a:t>김성용 교수님 연구실의 석사과정 이상준입니다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저는 각종 재난에 안전한 건축물에 관심이 많아 연구실에 들어오게 되었는데요</a:t>
            </a:r>
            <a:endParaRPr lang="en-US" altLang="ko-KR" dirty="0"/>
          </a:p>
          <a:p>
            <a:r>
              <a:rPr lang="ko-KR" altLang="en-US" dirty="0"/>
              <a:t>현재 건물 내 </a:t>
            </a:r>
            <a:r>
              <a:rPr lang="ko-KR" altLang="en-US" dirty="0" err="1"/>
              <a:t>대시피설에</a:t>
            </a:r>
            <a:r>
              <a:rPr lang="ko-KR" altLang="en-US" dirty="0"/>
              <a:t> 관한 연구를 수행하고 있어</a:t>
            </a:r>
            <a:r>
              <a:rPr lang="en-US" altLang="ko-KR" dirty="0"/>
              <a:t>, </a:t>
            </a:r>
            <a:r>
              <a:rPr lang="ko-KR" altLang="en-US" dirty="0" err="1"/>
              <a:t>이에대해</a:t>
            </a:r>
            <a:r>
              <a:rPr lang="ko-KR" altLang="en-US" dirty="0"/>
              <a:t> 발표해 보겠습니다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 lang="ko-KR"/>
            </a:pPr>
            <a:fld id="{BD583F59-9E60-4ADF-A2BF-D60AC9F9208C}" type="slidenum">
              <a:rPr lang="ko-KR" altLang="en-US" smtClean="0"/>
              <a:pPr>
                <a:defRPr lang="ko-KR"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9236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발표순서는 </a:t>
            </a:r>
            <a:r>
              <a:rPr lang="en-US" altLang="ko-KR" dirty="0"/>
              <a:t>~ </a:t>
            </a:r>
            <a:r>
              <a:rPr lang="ko-KR" altLang="en-US" dirty="0"/>
              <a:t>의 순으로 진행하겠습니다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 lang="ko-KR"/>
            </a:pPr>
            <a:fld id="{BD583F59-9E60-4ADF-A2BF-D60AC9F9208C}" type="slidenum">
              <a:rPr lang="ko-KR" altLang="en-US" smtClean="0"/>
              <a:pPr>
                <a:defRPr lang="ko-KR"/>
              </a:pPr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8079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이상으로 발표를 마칩니다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 lang="ko-KR"/>
            </a:pPr>
            <a:fld id="{BD583F59-9E60-4ADF-A2BF-D60AC9F9208C}" type="slidenum">
              <a:rPr lang="ko-KR" altLang="en-US" smtClean="0"/>
              <a:pPr>
                <a:defRPr lang="ko-KR"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6990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621EBFD-3508-4676-9B7E-68E3739EFB31}"/>
              </a:ext>
            </a:extLst>
          </p:cNvPr>
          <p:cNvSpPr/>
          <p:nvPr userDrawn="1"/>
        </p:nvSpPr>
        <p:spPr>
          <a:xfrm>
            <a:off x="0" y="0"/>
            <a:ext cx="12192000" cy="6645349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7CA6E7D4-8527-4C1F-B833-8FAEA4765D9B}"/>
              </a:ext>
            </a:extLst>
          </p:cNvPr>
          <p:cNvSpPr/>
          <p:nvPr userDrawn="1"/>
        </p:nvSpPr>
        <p:spPr>
          <a:xfrm>
            <a:off x="0" y="3593546"/>
            <a:ext cx="12192001" cy="3264454"/>
          </a:xfrm>
          <a:custGeom>
            <a:avLst/>
            <a:gdLst>
              <a:gd name="connsiteX0" fmla="*/ 11901753 w 12192001"/>
              <a:gd name="connsiteY0" fmla="*/ 771 h 3264454"/>
              <a:gd name="connsiteX1" fmla="*/ 12181460 w 12192001"/>
              <a:gd name="connsiteY1" fmla="*/ 3803 h 3264454"/>
              <a:gd name="connsiteX2" fmla="*/ 12192001 w 12192001"/>
              <a:gd name="connsiteY2" fmla="*/ 4630 h 3264454"/>
              <a:gd name="connsiteX3" fmla="*/ 12192001 w 12192001"/>
              <a:gd name="connsiteY3" fmla="*/ 3264454 h 3264454"/>
              <a:gd name="connsiteX4" fmla="*/ 0 w 12192001"/>
              <a:gd name="connsiteY4" fmla="*/ 3264454 h 3264454"/>
              <a:gd name="connsiteX5" fmla="*/ 0 w 12192001"/>
              <a:gd name="connsiteY5" fmla="*/ 3007649 h 3264454"/>
              <a:gd name="connsiteX6" fmla="*/ 92858 w 12192001"/>
              <a:gd name="connsiteY6" fmla="*/ 2970371 h 3264454"/>
              <a:gd name="connsiteX7" fmla="*/ 11901753 w 12192001"/>
              <a:gd name="connsiteY7" fmla="*/ 771 h 326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1" h="3264454">
                <a:moveTo>
                  <a:pt x="11901753" y="771"/>
                </a:moveTo>
                <a:cubicBezTo>
                  <a:pt x="12000715" y="-871"/>
                  <a:pt x="12094089" y="93"/>
                  <a:pt x="12181460" y="3803"/>
                </a:cubicBezTo>
                <a:lnTo>
                  <a:pt x="12192001" y="4630"/>
                </a:lnTo>
                <a:lnTo>
                  <a:pt x="12192001" y="3264454"/>
                </a:lnTo>
                <a:lnTo>
                  <a:pt x="0" y="3264454"/>
                </a:lnTo>
                <a:lnTo>
                  <a:pt x="0" y="3007649"/>
                </a:lnTo>
                <a:lnTo>
                  <a:pt x="92858" y="2970371"/>
                </a:lnTo>
                <a:cubicBezTo>
                  <a:pt x="2901534" y="1869730"/>
                  <a:pt x="9313268" y="43728"/>
                  <a:pt x="11901753" y="7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C332B50E-E8B3-4A73-BAF2-AAB402AC3DD4}"/>
              </a:ext>
            </a:extLst>
          </p:cNvPr>
          <p:cNvSpPr/>
          <p:nvPr userDrawn="1"/>
        </p:nvSpPr>
        <p:spPr>
          <a:xfrm>
            <a:off x="41913" y="3867177"/>
            <a:ext cx="12150089" cy="2990823"/>
          </a:xfrm>
          <a:custGeom>
            <a:avLst/>
            <a:gdLst>
              <a:gd name="connsiteX0" fmla="*/ 11859841 w 12150089"/>
              <a:gd name="connsiteY0" fmla="*/ 771 h 2990823"/>
              <a:gd name="connsiteX1" fmla="*/ 12139548 w 12150089"/>
              <a:gd name="connsiteY1" fmla="*/ 3803 h 2990823"/>
              <a:gd name="connsiteX2" fmla="*/ 12150089 w 12150089"/>
              <a:gd name="connsiteY2" fmla="*/ 4630 h 2990823"/>
              <a:gd name="connsiteX3" fmla="*/ 12150089 w 12150089"/>
              <a:gd name="connsiteY3" fmla="*/ 2990823 h 2990823"/>
              <a:gd name="connsiteX4" fmla="*/ 0 w 12150089"/>
              <a:gd name="connsiteY4" fmla="*/ 2990823 h 2990823"/>
              <a:gd name="connsiteX5" fmla="*/ 50945 w 12150089"/>
              <a:gd name="connsiteY5" fmla="*/ 2970371 h 2990823"/>
              <a:gd name="connsiteX6" fmla="*/ 11859841 w 12150089"/>
              <a:gd name="connsiteY6" fmla="*/ 771 h 299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50089" h="2990823">
                <a:moveTo>
                  <a:pt x="11859841" y="771"/>
                </a:moveTo>
                <a:cubicBezTo>
                  <a:pt x="11958803" y="-871"/>
                  <a:pt x="12052177" y="93"/>
                  <a:pt x="12139548" y="3803"/>
                </a:cubicBezTo>
                <a:lnTo>
                  <a:pt x="12150089" y="4630"/>
                </a:lnTo>
                <a:lnTo>
                  <a:pt x="12150089" y="2990823"/>
                </a:lnTo>
                <a:lnTo>
                  <a:pt x="0" y="2990823"/>
                </a:lnTo>
                <a:lnTo>
                  <a:pt x="50945" y="2970371"/>
                </a:lnTo>
                <a:cubicBezTo>
                  <a:pt x="2859623" y="1869730"/>
                  <a:pt x="9271356" y="43728"/>
                  <a:pt x="11859841" y="771"/>
                </a:cubicBezTo>
                <a:close/>
              </a:path>
            </a:pathLst>
          </a:custGeom>
          <a:solidFill>
            <a:srgbClr val="DCDA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298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슬라이드2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51A9AA-CCBD-4544-B0B3-DE77C2F3BB91}"/>
              </a:ext>
            </a:extLst>
          </p:cNvPr>
          <p:cNvSpPr/>
          <p:nvPr userDrawn="1"/>
        </p:nvSpPr>
        <p:spPr>
          <a:xfrm>
            <a:off x="0" y="4820041"/>
            <a:ext cx="7524750" cy="1088634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A1FC1E-86BA-4BDC-9EF4-CB1A160976D0}"/>
              </a:ext>
            </a:extLst>
          </p:cNvPr>
          <p:cNvSpPr/>
          <p:nvPr userDrawn="1"/>
        </p:nvSpPr>
        <p:spPr>
          <a:xfrm>
            <a:off x="10684050" y="4884458"/>
            <a:ext cx="1507950" cy="1088634"/>
          </a:xfrm>
          <a:prstGeom prst="rect">
            <a:avLst/>
          </a:prstGeom>
          <a:solidFill>
            <a:srgbClr val="DCDA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4F95ECA-6C45-4640-8CDA-687F769DAE51}"/>
              </a:ext>
            </a:extLst>
          </p:cNvPr>
          <p:cNvCxnSpPr>
            <a:cxnSpLocks/>
          </p:cNvCxnSpPr>
          <p:nvPr userDrawn="1"/>
        </p:nvCxnSpPr>
        <p:spPr>
          <a:xfrm>
            <a:off x="1063388" y="545910"/>
            <a:ext cx="10080000" cy="0"/>
          </a:xfrm>
          <a:prstGeom prst="line">
            <a:avLst/>
          </a:prstGeom>
          <a:ln w="19050">
            <a:solidFill>
              <a:srgbClr val="0028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3D3A55F9-42DC-40B0-85FB-3EE9D2626446}"/>
              </a:ext>
            </a:extLst>
          </p:cNvPr>
          <p:cNvSpPr/>
          <p:nvPr userDrawn="1"/>
        </p:nvSpPr>
        <p:spPr>
          <a:xfrm>
            <a:off x="7507388" y="545910"/>
            <a:ext cx="3636000" cy="68239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468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76FAF0C-24CE-455A-ACB9-25B7B05DAD60}"/>
              </a:ext>
            </a:extLst>
          </p:cNvPr>
          <p:cNvCxnSpPr>
            <a:cxnSpLocks/>
          </p:cNvCxnSpPr>
          <p:nvPr userDrawn="1"/>
        </p:nvCxnSpPr>
        <p:spPr>
          <a:xfrm>
            <a:off x="1063388" y="545910"/>
            <a:ext cx="10080000" cy="0"/>
          </a:xfrm>
          <a:prstGeom prst="line">
            <a:avLst/>
          </a:prstGeom>
          <a:ln w="19050">
            <a:solidFill>
              <a:srgbClr val="0028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0DB69C-536C-4796-9CD5-E1D2480709AD}"/>
              </a:ext>
            </a:extLst>
          </p:cNvPr>
          <p:cNvSpPr/>
          <p:nvPr userDrawn="1"/>
        </p:nvSpPr>
        <p:spPr>
          <a:xfrm>
            <a:off x="7507388" y="545910"/>
            <a:ext cx="3636000" cy="68239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BC0EB-6EC3-4911-9ED8-DED6453FD189}"/>
              </a:ext>
            </a:extLst>
          </p:cNvPr>
          <p:cNvSpPr txBox="1"/>
          <p:nvPr userDrawn="1"/>
        </p:nvSpPr>
        <p:spPr>
          <a:xfrm>
            <a:off x="5785500" y="6605471"/>
            <a:ext cx="62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10F0811-F307-44F9-A192-63EBA736051C}" type="slidenum">
              <a:rPr lang="ko-KR" altLang="en-US" sz="1100" smtClean="0">
                <a:solidFill>
                  <a:srgbClr val="18181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KoPubWorld돋움체_Pro Medium" panose="00000600000000000000" pitchFamily="50" charset="-127"/>
              </a:rPr>
              <a:pPr algn="ctr"/>
              <a:t>‹#›</a:t>
            </a:fld>
            <a:endParaRPr lang="ko-KR" altLang="en-US" dirty="0">
              <a:solidFill>
                <a:srgbClr val="181818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KoPubWorld돋움체_Pro Medium" panose="000006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6379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ABC0EB-6EC3-4911-9ED8-DED6453FD189}"/>
              </a:ext>
            </a:extLst>
          </p:cNvPr>
          <p:cNvSpPr txBox="1"/>
          <p:nvPr userDrawn="1"/>
        </p:nvSpPr>
        <p:spPr>
          <a:xfrm>
            <a:off x="5785500" y="6605471"/>
            <a:ext cx="62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10F0811-F307-44F9-A192-63EBA736051C}" type="slidenum">
              <a:rPr lang="ko-KR" altLang="en-US" sz="1100" smtClean="0">
                <a:solidFill>
                  <a:srgbClr val="181818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KoPubWorld돋움체_Pro Medium" panose="00000600000000000000" pitchFamily="50" charset="-127"/>
              </a:rPr>
              <a:pPr algn="ctr"/>
              <a:t>‹#›</a:t>
            </a:fld>
            <a:endParaRPr lang="ko-KR" altLang="en-US" dirty="0">
              <a:solidFill>
                <a:srgbClr val="181818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1C7A94-4C25-4999-9A32-0550B9B7E531}"/>
              </a:ext>
            </a:extLst>
          </p:cNvPr>
          <p:cNvSpPr/>
          <p:nvPr userDrawn="1"/>
        </p:nvSpPr>
        <p:spPr>
          <a:xfrm>
            <a:off x="0" y="0"/>
            <a:ext cx="7524750" cy="64417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D52F23-08E2-4CFB-8037-EFF0292029E5}"/>
              </a:ext>
            </a:extLst>
          </p:cNvPr>
          <p:cNvSpPr/>
          <p:nvPr userDrawn="1"/>
        </p:nvSpPr>
        <p:spPr>
          <a:xfrm>
            <a:off x="7524750" y="-2114"/>
            <a:ext cx="4680000" cy="64418"/>
          </a:xfrm>
          <a:prstGeom prst="rect">
            <a:avLst/>
          </a:prstGeom>
          <a:solidFill>
            <a:srgbClr val="DCDA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186490-A8C2-4077-8EE3-B2DEC13AC837}"/>
              </a:ext>
            </a:extLst>
          </p:cNvPr>
          <p:cNvSpPr txBox="1"/>
          <p:nvPr userDrawn="1"/>
        </p:nvSpPr>
        <p:spPr>
          <a:xfrm>
            <a:off x="310273" y="333516"/>
            <a:ext cx="3576918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000" spc="0" dirty="0">
                <a:solidFill>
                  <a:srgbClr val="181818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KoPubWorld돋움체 Medium"/>
              </a:rPr>
              <a:t>1. AAA</a:t>
            </a:r>
            <a:endParaRPr lang="ko-KR" altLang="en-US" sz="2000" spc="0" dirty="0">
              <a:solidFill>
                <a:srgbClr val="181818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KoPubWorld돋움체 Medium"/>
            </a:endParaRPr>
          </a:p>
        </p:txBody>
      </p:sp>
    </p:spTree>
    <p:extLst>
      <p:ext uri="{BB962C8B-B14F-4D97-AF65-F5344CB8AC3E}">
        <p14:creationId xmlns:p14="http://schemas.microsoft.com/office/powerpoint/2010/main" val="617354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슬라이드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ABC0EB-6EC3-4911-9ED8-DED6453FD189}"/>
              </a:ext>
            </a:extLst>
          </p:cNvPr>
          <p:cNvSpPr txBox="1"/>
          <p:nvPr userDrawn="1"/>
        </p:nvSpPr>
        <p:spPr>
          <a:xfrm>
            <a:off x="5785500" y="6605471"/>
            <a:ext cx="62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10F0811-F307-44F9-A192-63EBA736051C}" type="slidenum">
              <a:rPr lang="ko-KR" altLang="en-US" sz="1100" smtClean="0">
                <a:solidFill>
                  <a:srgbClr val="181818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KoPubWorld돋움체_Pro Medium" panose="00000600000000000000" pitchFamily="50" charset="-127"/>
              </a:rPr>
              <a:pPr algn="ctr"/>
              <a:t>‹#›</a:t>
            </a:fld>
            <a:endParaRPr lang="ko-KR" altLang="en-US" dirty="0">
              <a:solidFill>
                <a:srgbClr val="181818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1C7A94-4C25-4999-9A32-0550B9B7E531}"/>
              </a:ext>
            </a:extLst>
          </p:cNvPr>
          <p:cNvSpPr/>
          <p:nvPr userDrawn="1"/>
        </p:nvSpPr>
        <p:spPr>
          <a:xfrm>
            <a:off x="0" y="0"/>
            <a:ext cx="7524750" cy="64417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D52F23-08E2-4CFB-8037-EFF0292029E5}"/>
              </a:ext>
            </a:extLst>
          </p:cNvPr>
          <p:cNvSpPr/>
          <p:nvPr userDrawn="1"/>
        </p:nvSpPr>
        <p:spPr>
          <a:xfrm>
            <a:off x="7524750" y="-2114"/>
            <a:ext cx="4680000" cy="64418"/>
          </a:xfrm>
          <a:prstGeom prst="rect">
            <a:avLst/>
          </a:prstGeom>
          <a:solidFill>
            <a:srgbClr val="DCDA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FF1AF-4FB4-4653-8157-61E2B24EC917}"/>
              </a:ext>
            </a:extLst>
          </p:cNvPr>
          <p:cNvSpPr txBox="1"/>
          <p:nvPr userDrawn="1"/>
        </p:nvSpPr>
        <p:spPr>
          <a:xfrm>
            <a:off x="310273" y="333516"/>
            <a:ext cx="3576918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000" spc="0" dirty="0">
                <a:solidFill>
                  <a:srgbClr val="181818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KoPubWorld돋움체 Medium"/>
              </a:rPr>
              <a:t>2. BBB</a:t>
            </a:r>
            <a:endParaRPr lang="ko-KR" altLang="en-US" sz="2000" spc="0" dirty="0">
              <a:solidFill>
                <a:srgbClr val="181818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KoPubWorld돋움체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3844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슬라이드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ABC0EB-6EC3-4911-9ED8-DED6453FD189}"/>
              </a:ext>
            </a:extLst>
          </p:cNvPr>
          <p:cNvSpPr txBox="1"/>
          <p:nvPr userDrawn="1"/>
        </p:nvSpPr>
        <p:spPr>
          <a:xfrm>
            <a:off x="5785500" y="6605471"/>
            <a:ext cx="62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10F0811-F307-44F9-A192-63EBA736051C}" type="slidenum">
              <a:rPr lang="ko-KR" altLang="en-US" sz="1100" smtClean="0">
                <a:solidFill>
                  <a:srgbClr val="181818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KoPubWorld돋움체_Pro Medium" panose="00000600000000000000" pitchFamily="50" charset="-127"/>
              </a:rPr>
              <a:pPr algn="ctr"/>
              <a:t>‹#›</a:t>
            </a:fld>
            <a:endParaRPr lang="ko-KR" altLang="en-US" dirty="0">
              <a:solidFill>
                <a:srgbClr val="181818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1C7A94-4C25-4999-9A32-0550B9B7E531}"/>
              </a:ext>
            </a:extLst>
          </p:cNvPr>
          <p:cNvSpPr/>
          <p:nvPr userDrawn="1"/>
        </p:nvSpPr>
        <p:spPr>
          <a:xfrm>
            <a:off x="0" y="0"/>
            <a:ext cx="7524750" cy="64417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D52F23-08E2-4CFB-8037-EFF0292029E5}"/>
              </a:ext>
            </a:extLst>
          </p:cNvPr>
          <p:cNvSpPr/>
          <p:nvPr userDrawn="1"/>
        </p:nvSpPr>
        <p:spPr>
          <a:xfrm>
            <a:off x="7524750" y="-2114"/>
            <a:ext cx="4680000" cy="64418"/>
          </a:xfrm>
          <a:prstGeom prst="rect">
            <a:avLst/>
          </a:prstGeom>
          <a:solidFill>
            <a:srgbClr val="DCDA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B50CB-AE74-42A2-BE5D-F48963F1DBF5}"/>
              </a:ext>
            </a:extLst>
          </p:cNvPr>
          <p:cNvSpPr txBox="1"/>
          <p:nvPr userDrawn="1"/>
        </p:nvSpPr>
        <p:spPr>
          <a:xfrm>
            <a:off x="310273" y="333516"/>
            <a:ext cx="3576918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000" spc="0" dirty="0">
                <a:solidFill>
                  <a:srgbClr val="181818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KoPubWorld돋움체 Medium"/>
              </a:rPr>
              <a:t>3. </a:t>
            </a:r>
            <a:r>
              <a:rPr lang="ko-KR" altLang="en-US" sz="2000" spc="0" dirty="0">
                <a:solidFill>
                  <a:srgbClr val="181818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KoPubWorld돋움체 Medium"/>
              </a:rPr>
              <a:t>제목수정은 슬라이드 마스터</a:t>
            </a:r>
          </a:p>
        </p:txBody>
      </p:sp>
    </p:spTree>
    <p:extLst>
      <p:ext uri="{BB962C8B-B14F-4D97-AF65-F5344CB8AC3E}">
        <p14:creationId xmlns:p14="http://schemas.microsoft.com/office/powerpoint/2010/main" val="68689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슬라이드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ABC0EB-6EC3-4911-9ED8-DED6453FD189}"/>
              </a:ext>
            </a:extLst>
          </p:cNvPr>
          <p:cNvSpPr txBox="1"/>
          <p:nvPr userDrawn="1"/>
        </p:nvSpPr>
        <p:spPr>
          <a:xfrm>
            <a:off x="5785500" y="6605471"/>
            <a:ext cx="62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10F0811-F307-44F9-A192-63EBA736051C}" type="slidenum">
              <a:rPr lang="ko-KR" altLang="en-US" sz="1100" smtClean="0">
                <a:solidFill>
                  <a:srgbClr val="181818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KoPubWorld돋움체_Pro Medium" panose="00000600000000000000" pitchFamily="50" charset="-127"/>
              </a:rPr>
              <a:pPr algn="ctr"/>
              <a:t>‹#›</a:t>
            </a:fld>
            <a:endParaRPr lang="ko-KR" altLang="en-US" dirty="0">
              <a:solidFill>
                <a:srgbClr val="181818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1C7A94-4C25-4999-9A32-0550B9B7E531}"/>
              </a:ext>
            </a:extLst>
          </p:cNvPr>
          <p:cNvSpPr/>
          <p:nvPr userDrawn="1"/>
        </p:nvSpPr>
        <p:spPr>
          <a:xfrm>
            <a:off x="0" y="0"/>
            <a:ext cx="7524750" cy="64417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D52F23-08E2-4CFB-8037-EFF0292029E5}"/>
              </a:ext>
            </a:extLst>
          </p:cNvPr>
          <p:cNvSpPr/>
          <p:nvPr userDrawn="1"/>
        </p:nvSpPr>
        <p:spPr>
          <a:xfrm>
            <a:off x="7524750" y="-2114"/>
            <a:ext cx="4680000" cy="64418"/>
          </a:xfrm>
          <a:prstGeom prst="rect">
            <a:avLst/>
          </a:prstGeom>
          <a:solidFill>
            <a:srgbClr val="DCDA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B50CB-AE74-42A2-BE5D-F48963F1DBF5}"/>
              </a:ext>
            </a:extLst>
          </p:cNvPr>
          <p:cNvSpPr txBox="1"/>
          <p:nvPr userDrawn="1"/>
        </p:nvSpPr>
        <p:spPr>
          <a:xfrm>
            <a:off x="310273" y="333516"/>
            <a:ext cx="3576918" cy="49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000" spc="0" dirty="0">
                <a:solidFill>
                  <a:srgbClr val="181818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KoPubWorld돋움체 Medium"/>
              </a:rPr>
              <a:t>4. DDD</a:t>
            </a:r>
            <a:endParaRPr lang="ko-KR" altLang="en-US" sz="2000" spc="0" dirty="0">
              <a:solidFill>
                <a:srgbClr val="181818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KoPubWorld돋움체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67259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폰트, 그래픽, 로고이(가) 표시된 사진&#10;&#10;자동 생성된 설명">
            <a:extLst>
              <a:ext uri="{FF2B5EF4-FFF2-40B4-BE49-F238E27FC236}">
                <a16:creationId xmlns:a16="http://schemas.microsoft.com/office/drawing/2014/main" id="{EDCCCC0D-52CD-4D38-AB94-6EFDD4F172F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453" y="6277906"/>
            <a:ext cx="2393420" cy="40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98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1" r:id="rId4"/>
    <p:sldLayoutId id="2147483656" r:id="rId5"/>
    <p:sldLayoutId id="2147483657" r:id="rId6"/>
    <p:sldLayoutId id="2147483658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DD34AC4C-2E36-37B9-FF80-3C2F34588163}"/>
              </a:ext>
            </a:extLst>
          </p:cNvPr>
          <p:cNvSpPr txBox="1"/>
          <p:nvPr/>
        </p:nvSpPr>
        <p:spPr bwMode="auto">
          <a:xfrm>
            <a:off x="7563353" y="4839490"/>
            <a:ext cx="3038475" cy="1137684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  <a:defRPr lang="ko-KR"/>
            </a:pP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KoPubWorld돋움체_Pro Medium" panose="00000600000000000000" pitchFamily="50" charset="-127"/>
              </a:rPr>
              <a:t>창원대학교 건축공학과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KoPubWorld돋움체_Pro Medium" panose="00000600000000000000" pitchFamily="50" charset="-127"/>
            </a:endParaRPr>
          </a:p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  <a:defRPr lang="ko-KR"/>
            </a:pP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KoPubWorld돋움체_Pro Medium" panose="00000600000000000000" pitchFamily="50" charset="-127"/>
              </a:rPr>
              <a:t>석사과정 </a:t>
            </a:r>
            <a:r>
              <a:rPr lang="ko-KR" alt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KoPubWorld돋움체_Pro Medium" panose="00000600000000000000" pitchFamily="50" charset="-127"/>
              </a:rPr>
              <a:t>ㅁㅁㅁ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KoPubWorld돋움체_Pro Medium" panose="00000600000000000000" pitchFamily="50" charset="-127"/>
            </a:endParaRPr>
          </a:p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  <a:defRPr lang="ko-KR"/>
            </a:pP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KoPubWorld돋움체_Pro Medium" panose="00000600000000000000" pitchFamily="50" charset="-127"/>
              </a:rPr>
              <a:t>지도교수 </a:t>
            </a:r>
            <a:r>
              <a:rPr lang="ko-KR" alt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KoPubWorld돋움체_Pro Medium" panose="00000600000000000000" pitchFamily="50" charset="-127"/>
              </a:rPr>
              <a:t>ㅁㅁㅁ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7173" name="TextBox 13">
            <a:extLst>
              <a:ext uri="{FF2B5EF4-FFF2-40B4-BE49-F238E27FC236}">
                <a16:creationId xmlns:a16="http://schemas.microsoft.com/office/drawing/2014/main" id="{39E5E729-89A8-886D-0DC8-FA3A5E057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613" y="3876740"/>
            <a:ext cx="1966912" cy="45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9pPr>
          </a:lstStyle>
          <a:p>
            <a:pPr algn="ctr" eaLnBrk="1" latinLnBrk="1" hangingPunct="1">
              <a:lnSpc>
                <a:spcPct val="130000"/>
              </a:lnSpc>
            </a:pPr>
            <a:r>
              <a:rPr lang="en-US" altLang="ko-KR" sz="2000" dirty="0">
                <a:latin typeface="+mj-ea"/>
                <a:ea typeface="+mj-ea"/>
                <a:cs typeface="KoPubWorld돋움체_Pro Medium" panose="00000600000000000000" pitchFamily="50" charset="-127"/>
              </a:rPr>
              <a:t>2024. 05. 23</a:t>
            </a:r>
            <a:endParaRPr lang="ko-KR" altLang="en-US" sz="2000" dirty="0">
              <a:latin typeface="+mj-ea"/>
              <a:ea typeface="+mj-ea"/>
              <a:cs typeface="KoPubWorld돋움체_Pro Medium" panose="000006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7B286C-3296-4335-9DD2-4EC08806FBAB}"/>
              </a:ext>
            </a:extLst>
          </p:cNvPr>
          <p:cNvSpPr txBox="1"/>
          <p:nvPr/>
        </p:nvSpPr>
        <p:spPr>
          <a:xfrm>
            <a:off x="1149097" y="1498354"/>
            <a:ext cx="9893806" cy="1238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dirty="0" err="1">
                <a:solidFill>
                  <a:srgbClr val="181818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KoPubWorld돋움체_Pro Bold" panose="00000800000000000000" pitchFamily="50" charset="-127"/>
              </a:rPr>
              <a:t>국립창원대학교</a:t>
            </a:r>
            <a:endParaRPr lang="en-US" altLang="ko-KR" sz="3200" dirty="0">
              <a:solidFill>
                <a:srgbClr val="181818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KoPubWorld돋움체_Pro Bold" panose="000008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181818"/>
                </a:solidFill>
                <a:latin typeface="+mn-ea"/>
                <a:cs typeface="KoPubWorld돋움체_Pro Bold" panose="00000800000000000000" pitchFamily="50" charset="-127"/>
              </a:rPr>
              <a:t>Changwon National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252334953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13">
            <a:extLst>
              <a:ext uri="{FF2B5EF4-FFF2-40B4-BE49-F238E27FC236}">
                <a16:creationId xmlns:a16="http://schemas.microsoft.com/office/drawing/2014/main" id="{B7DCF6B0-C8DB-9CEE-7313-C7B86BDA1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380" y="791134"/>
            <a:ext cx="3122612" cy="814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9pPr>
          </a:lstStyle>
          <a:p>
            <a:pPr eaLnBrk="1" latinLnBrk="1" hangingPunct="1">
              <a:lnSpc>
                <a:spcPct val="130000"/>
              </a:lnSpc>
            </a:pPr>
            <a:r>
              <a:rPr lang="en-US" altLang="ko-KR" sz="4000" dirty="0">
                <a:solidFill>
                  <a:srgbClr val="181818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KoPubWorld돋움체_Pro Bold" panose="00000800000000000000" pitchFamily="50" charset="-127"/>
              </a:rPr>
              <a:t>Outline</a:t>
            </a:r>
            <a:endParaRPr lang="ko-KR" altLang="en-US" sz="1600" dirty="0">
              <a:solidFill>
                <a:srgbClr val="181818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8199" name="TextBox 51">
            <a:extLst>
              <a:ext uri="{FF2B5EF4-FFF2-40B4-BE49-F238E27FC236}">
                <a16:creationId xmlns:a16="http://schemas.microsoft.com/office/drawing/2014/main" id="{1D036A8E-2479-13BC-773B-828F3F0F0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380" y="2032498"/>
            <a:ext cx="5636436" cy="452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9pPr>
          </a:lstStyle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사용하기 편하게 수정함</a:t>
            </a:r>
            <a:endParaRPr lang="en-US" altLang="ko-KR" sz="2400" dirty="0">
              <a:solidFill>
                <a:srgbClr val="181818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  <a:cs typeface="KoPubWorld돋움체_Pro Bold" panose="00000800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2400" dirty="0" err="1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본문좌측상단</a:t>
            </a:r>
            <a:r>
              <a:rPr lang="ko-KR" altLang="en-US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 제목은</a:t>
            </a:r>
            <a:endParaRPr lang="en-US" altLang="ko-KR" sz="2400" dirty="0">
              <a:solidFill>
                <a:srgbClr val="181818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  <a:cs typeface="KoPubWorld돋움체_Pro Bold" panose="00000800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보기 </a:t>
            </a:r>
            <a:r>
              <a:rPr lang="en-US" altLang="ko-KR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-&gt; </a:t>
            </a:r>
            <a:r>
              <a:rPr lang="ko-KR" altLang="en-US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슬라이드 마스터 </a:t>
            </a:r>
            <a:r>
              <a:rPr lang="ko-KR" altLang="en-US" sz="2400" dirty="0" err="1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활용요망</a:t>
            </a:r>
            <a:endParaRPr lang="en-US" altLang="ko-KR" sz="2400" dirty="0">
              <a:solidFill>
                <a:srgbClr val="181818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  <a:cs typeface="KoPubWorld돋움체_Pro Bold" panose="00000800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슬라이드 </a:t>
            </a:r>
            <a:r>
              <a:rPr lang="ko-KR" altLang="en-US" sz="2400" dirty="0" err="1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우클릭</a:t>
            </a:r>
            <a:r>
              <a:rPr lang="ko-KR" altLang="en-US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 </a:t>
            </a:r>
            <a:r>
              <a:rPr lang="en-US" altLang="ko-KR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-&gt; </a:t>
            </a:r>
            <a:r>
              <a:rPr lang="ko-KR" altLang="en-US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레이아웃 활용</a:t>
            </a:r>
            <a:endParaRPr lang="en-US" altLang="ko-KR" sz="2400" dirty="0">
              <a:solidFill>
                <a:srgbClr val="181818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833393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8AE4F41-EA7F-4359-A9EF-4C0337E11C62}"/>
              </a:ext>
            </a:extLst>
          </p:cNvPr>
          <p:cNvGrpSpPr/>
          <p:nvPr/>
        </p:nvGrpSpPr>
        <p:grpSpPr>
          <a:xfrm>
            <a:off x="760486" y="919995"/>
            <a:ext cx="10860901" cy="2488558"/>
            <a:chOff x="805233" y="1378897"/>
            <a:chExt cx="4263553" cy="2488558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61D88BE2-DE65-4889-9EFB-B407BE89FC2D}"/>
                </a:ext>
              </a:extLst>
            </p:cNvPr>
            <p:cNvCxnSpPr>
              <a:cxnSpLocks/>
            </p:cNvCxnSpPr>
            <p:nvPr/>
          </p:nvCxnSpPr>
          <p:spPr>
            <a:xfrm>
              <a:off x="805233" y="1558897"/>
              <a:ext cx="4263553" cy="0"/>
            </a:xfrm>
            <a:prstGeom prst="line">
              <a:avLst/>
            </a:prstGeom>
            <a:ln w="57150">
              <a:solidFill>
                <a:srgbClr val="0028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25746E7-DDAA-4608-9CAC-B46F32417AC2}"/>
                </a:ext>
              </a:extLst>
            </p:cNvPr>
            <p:cNvSpPr/>
            <p:nvPr/>
          </p:nvSpPr>
          <p:spPr>
            <a:xfrm>
              <a:off x="805235" y="1579345"/>
              <a:ext cx="4263551" cy="228811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0">
                  <a:srgbClr val="0360AE">
                    <a:alpha val="8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252000" numCol="1" anchor="t"/>
            <a:lstStyle/>
            <a:p>
              <a:pPr marL="285750" indent="-285750">
                <a:spcAft>
                  <a:spcPts val="1000"/>
                </a:spcAft>
                <a:buFont typeface="Arial" panose="020B0604020202020204" pitchFamily="34" charset="0"/>
                <a:buChar char="•"/>
                <a:defRPr lang="ko-KR"/>
              </a:pPr>
              <a:r>
                <a:rPr lang="ko-KR" altLang="en-US" sz="2000" dirty="0">
                  <a:solidFill>
                    <a:schemeClr val="tx1"/>
                  </a:solidFill>
                  <a:latin typeface="+mn-ea"/>
                </a:rPr>
                <a:t>최대 </a:t>
              </a:r>
              <a:r>
                <a:rPr lang="ko-KR" altLang="en-US" sz="2000" dirty="0" err="1">
                  <a:solidFill>
                    <a:schemeClr val="tx1"/>
                  </a:solidFill>
                  <a:latin typeface="+mn-ea"/>
                </a:rPr>
                <a:t>과압</a:t>
              </a:r>
              <a:r>
                <a:rPr lang="en-US" altLang="ko-KR" sz="2000" dirty="0">
                  <a:solidFill>
                    <a:schemeClr val="tx1"/>
                  </a:solidFill>
                  <a:latin typeface="+mn-ea"/>
                </a:rPr>
                <a:t>(Peak Overpressure)</a:t>
              </a:r>
              <a:r>
                <a:rPr lang="ko-KR" altLang="en-US" sz="2000" dirty="0">
                  <a:solidFill>
                    <a:schemeClr val="tx1"/>
                  </a:solidFill>
                  <a:latin typeface="+mn-ea"/>
                </a:rPr>
                <a:t>의 선정                                                                             </a:t>
              </a:r>
              <a:r>
                <a:rPr lang="en-US" altLang="ko-KR" sz="2000" dirty="0">
                  <a:solidFill>
                    <a:schemeClr val="tx1"/>
                  </a:solidFill>
                  <a:latin typeface="+mn-ea"/>
                </a:rPr>
                <a:t>(e.g., 100kPa)</a:t>
              </a:r>
              <a:br>
                <a:rPr lang="en-US" altLang="ko-KR" sz="2000" dirty="0">
                  <a:solidFill>
                    <a:schemeClr val="tx1"/>
                  </a:solidFill>
                  <a:latin typeface="+mn-ea"/>
                </a:rPr>
              </a:br>
              <a:r>
                <a:rPr lang="ko-KR" altLang="en-US" dirty="0">
                  <a:solidFill>
                    <a:schemeClr val="tx1"/>
                  </a:solidFill>
                  <a:latin typeface="Noto Sans KR Light" panose="020B0200000000000000" pitchFamily="50" charset="-127"/>
                  <a:ea typeface="Noto Sans KR Light" panose="020B0200000000000000" pitchFamily="50" charset="-127"/>
                </a:rPr>
                <a:t>폭발파의 최대압력</a:t>
              </a:r>
            </a:p>
            <a:p>
              <a:pPr marL="285750" indent="-285750">
                <a:spcAft>
                  <a:spcPts val="1000"/>
                </a:spcAft>
                <a:buFont typeface="Arial" panose="020B0604020202020204" pitchFamily="34" charset="0"/>
                <a:buChar char="•"/>
                <a:defRPr lang="ko-KR"/>
              </a:pPr>
              <a:r>
                <a:rPr lang="ko-KR" altLang="en-US" sz="2000" dirty="0">
                  <a:solidFill>
                    <a:schemeClr val="tx1"/>
                  </a:solidFill>
                  <a:latin typeface="+mn-ea"/>
                </a:rPr>
                <a:t>최대 </a:t>
              </a:r>
              <a:r>
                <a:rPr lang="ko-KR" altLang="en-US" sz="2000" dirty="0" err="1">
                  <a:solidFill>
                    <a:schemeClr val="tx1"/>
                  </a:solidFill>
                  <a:latin typeface="+mn-ea"/>
                </a:rPr>
                <a:t>반사압</a:t>
              </a:r>
              <a:r>
                <a:rPr lang="en-US" altLang="ko-KR" sz="2000" dirty="0">
                  <a:solidFill>
                    <a:schemeClr val="tx1"/>
                  </a:solidFill>
                  <a:latin typeface="+mn-ea"/>
                </a:rPr>
                <a:t>(Peak Reflected Overpressure)</a:t>
              </a:r>
              <a:r>
                <a:rPr lang="ko-KR" altLang="en-US" sz="2000" dirty="0">
                  <a:solidFill>
                    <a:schemeClr val="tx1"/>
                  </a:solidFill>
                  <a:latin typeface="+mn-ea"/>
                </a:rPr>
                <a:t>의 산정                                                    </a:t>
              </a:r>
              <a:r>
                <a:rPr lang="en-US" altLang="ko-KR" sz="2000" dirty="0">
                  <a:solidFill>
                    <a:schemeClr val="tx1"/>
                  </a:solidFill>
                  <a:latin typeface="+mn-ea"/>
                </a:rPr>
                <a:t>(e.g., 275kPa)</a:t>
              </a:r>
              <a:br>
                <a:rPr lang="en-US" altLang="ko-KR" sz="2000" dirty="0"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2000" dirty="0">
                  <a:solidFill>
                    <a:schemeClr val="tx1"/>
                  </a:solidFill>
                  <a:latin typeface="Noto Sans KR Light" panose="020B0200000000000000" pitchFamily="50" charset="-127"/>
                  <a:ea typeface="Noto Sans KR Light" panose="020B0200000000000000" pitchFamily="50" charset="-127"/>
                </a:rPr>
                <a:t>폭발파가 구조물에 부딪히며 증폭되어 가하는 최대압력</a:t>
              </a:r>
              <a:endParaRPr lang="ko-KR" altLang="en-US" sz="2000" dirty="0">
                <a:solidFill>
                  <a:schemeClr val="tx1"/>
                </a:solidFill>
                <a:latin typeface="+mn-ea"/>
              </a:endParaRPr>
            </a:p>
            <a:p>
              <a:pPr marL="285750" indent="-285750">
                <a:spcAft>
                  <a:spcPts val="1000"/>
                </a:spcAft>
                <a:buFont typeface="Arial" panose="020B0604020202020204" pitchFamily="34" charset="0"/>
                <a:buChar char="•"/>
                <a:defRPr lang="ko-KR"/>
              </a:pPr>
              <a:r>
                <a:rPr lang="ko-KR" altLang="en-US" sz="2000" dirty="0" err="1">
                  <a:solidFill>
                    <a:schemeClr val="tx1"/>
                  </a:solidFill>
                  <a:latin typeface="+mn-ea"/>
                </a:rPr>
                <a:t>양압시간</a:t>
              </a:r>
              <a:r>
                <a:rPr lang="en-US" altLang="ko-KR" sz="2000" dirty="0">
                  <a:solidFill>
                    <a:schemeClr val="tx1"/>
                  </a:solidFill>
                  <a:latin typeface="+mn-ea"/>
                </a:rPr>
                <a:t>(Positive Duration)</a:t>
              </a:r>
              <a:r>
                <a:rPr lang="ko-KR" altLang="en-US" sz="2000" dirty="0">
                  <a:solidFill>
                    <a:schemeClr val="tx1"/>
                  </a:solidFill>
                  <a:latin typeface="+mn-ea"/>
                </a:rPr>
                <a:t>산정</a:t>
              </a:r>
              <a:r>
                <a:rPr lang="en-US" altLang="ko-KR" sz="2000" dirty="0">
                  <a:solidFill>
                    <a:schemeClr val="tx1"/>
                  </a:solidFill>
                  <a:latin typeface="+mn-ea"/>
                </a:rPr>
                <a:t>                                                                                       (e.g., 2</a:t>
              </a:r>
              <a:r>
                <a:rPr lang="ko-KR" altLang="en-US" sz="2000" dirty="0">
                  <a:solidFill>
                    <a:schemeClr val="tx1"/>
                  </a:solidFill>
                  <a:latin typeface="+mn-ea"/>
                </a:rPr>
                <a:t>초</a:t>
              </a:r>
              <a:r>
                <a:rPr lang="en-US" altLang="ko-KR" sz="2000" dirty="0"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2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1F31888A-45F3-42F0-BAE5-68D48B38622D}"/>
                </a:ext>
              </a:extLst>
            </p:cNvPr>
            <p:cNvSpPr/>
            <p:nvPr/>
          </p:nvSpPr>
          <p:spPr>
            <a:xfrm>
              <a:off x="901276" y="1378897"/>
              <a:ext cx="554346" cy="360000"/>
            </a:xfrm>
            <a:prstGeom prst="roundRect">
              <a:avLst>
                <a:gd name="adj" fmla="val 50000"/>
              </a:avLst>
            </a:prstGeom>
            <a:solidFill>
              <a:srgbClr val="0028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r>
                <a:rPr lang="ko-KR" altLang="en-US" dirty="0">
                  <a:solidFill>
                    <a:schemeClr val="bg1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  <a:cs typeface="KoPubWorld돋움체_Pro Bold" panose="00000800000000000000" pitchFamily="50" charset="-127"/>
                </a:rPr>
                <a:t>하중의 산정</a:t>
              </a:r>
            </a:p>
          </p:txBody>
        </p:sp>
      </p:grp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549B3B2-DFE5-496A-9A7B-3F2E3DD94953}"/>
              </a:ext>
            </a:extLst>
          </p:cNvPr>
          <p:cNvSpPr txBox="1">
            <a:spLocks/>
          </p:cNvSpPr>
          <p:nvPr/>
        </p:nvSpPr>
        <p:spPr>
          <a:xfrm>
            <a:off x="6088359" y="5828301"/>
            <a:ext cx="5685010" cy="414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500"/>
              </a:spcBef>
              <a:buNone/>
            </a:pPr>
            <a:r>
              <a:rPr lang="ko-KR" altLang="en-US" sz="1400" dirty="0" err="1">
                <a:latin typeface="+mn-ea"/>
              </a:rPr>
              <a:t>이상화된</a:t>
            </a:r>
            <a:r>
              <a:rPr lang="ko-KR" altLang="en-US" sz="1400" dirty="0">
                <a:latin typeface="+mn-ea"/>
              </a:rPr>
              <a:t> 폭발의 압력</a:t>
            </a:r>
            <a:r>
              <a:rPr lang="en-US" altLang="ko-KR" sz="1400" dirty="0">
                <a:latin typeface="+mn-ea"/>
              </a:rPr>
              <a:t>-</a:t>
            </a:r>
            <a:r>
              <a:rPr lang="ko-KR" altLang="en-US" sz="1400" dirty="0">
                <a:latin typeface="+mn-ea"/>
              </a:rPr>
              <a:t>시간도</a:t>
            </a:r>
            <a:br>
              <a:rPr lang="en-US" altLang="ko-KR" sz="1050" dirty="0">
                <a:latin typeface="+mn-ea"/>
              </a:rPr>
            </a:br>
            <a:r>
              <a:rPr lang="ko-KR" altLang="en-US" sz="1050" dirty="0">
                <a:latin typeface="+mn-ea"/>
              </a:rPr>
              <a:t>이미지 출처 </a:t>
            </a:r>
            <a:r>
              <a:rPr lang="en-US" altLang="ko-KR" sz="1050" dirty="0">
                <a:latin typeface="+mn-ea"/>
              </a:rPr>
              <a:t>: Experimental and Empirical Study for Prediction of Blast Loads</a:t>
            </a:r>
          </a:p>
        </p:txBody>
      </p:sp>
      <p:pic>
        <p:nvPicPr>
          <p:cNvPr id="11" name="그림 10" descr="도표, 텍스트, 라인, 그래프이(가) 표시된 사진&#10;&#10;자동 생성된 설명">
            <a:extLst>
              <a:ext uri="{FF2B5EF4-FFF2-40B4-BE49-F238E27FC236}">
                <a16:creationId xmlns:a16="http://schemas.microsoft.com/office/drawing/2014/main" id="{CF0A31C0-0478-48B7-8157-78F9E4F779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903" y="3294334"/>
            <a:ext cx="4168100" cy="257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20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그룹 9">
            <a:extLst>
              <a:ext uri="{FF2B5EF4-FFF2-40B4-BE49-F238E27FC236}">
                <a16:creationId xmlns:a16="http://schemas.microsoft.com/office/drawing/2014/main" id="{95D16281-9A43-87FC-BF4E-00A520BF789A}"/>
              </a:ext>
            </a:extLst>
          </p:cNvPr>
          <p:cNvGrpSpPr>
            <a:grpSpLocks/>
          </p:cNvGrpSpPr>
          <p:nvPr/>
        </p:nvGrpSpPr>
        <p:grpSpPr bwMode="auto">
          <a:xfrm>
            <a:off x="976313" y="1578551"/>
            <a:ext cx="6805612" cy="1292662"/>
            <a:chOff x="3221517" y="2253465"/>
            <a:chExt cx="8928605" cy="1292080"/>
          </a:xfrm>
        </p:grpSpPr>
        <p:sp>
          <p:nvSpPr>
            <p:cNvPr id="34821" name="TextBox 16">
              <a:extLst>
                <a:ext uri="{FF2B5EF4-FFF2-40B4-BE49-F238E27FC236}">
                  <a16:creationId xmlns:a16="http://schemas.microsoft.com/office/drawing/2014/main" id="{4B96CED1-AA42-A354-AFA3-B62CC81EA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1517" y="2253465"/>
              <a:ext cx="8928605" cy="1292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9pPr>
            </a:lstStyle>
            <a:p>
              <a:pPr eaLnBrk="1" latinLnBrk="1" hangingPunct="1">
                <a:lnSpc>
                  <a:spcPct val="130000"/>
                </a:lnSpc>
              </a:pPr>
              <a:r>
                <a:rPr lang="en-US" altLang="ko-KR" sz="6000" dirty="0">
                  <a:solidFill>
                    <a:schemeClr val="bg1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  <a:cs typeface="KoPubWorld돋움체_Pro Bold" panose="00000800000000000000" pitchFamily="50" charset="-127"/>
                </a:rPr>
                <a:t>THANK YOU</a:t>
              </a:r>
            </a:p>
          </p:txBody>
        </p:sp>
        <p:sp>
          <p:nvSpPr>
            <p:cNvPr id="34822" name="TextBox 17">
              <a:extLst>
                <a:ext uri="{FF2B5EF4-FFF2-40B4-BE49-F238E27FC236}">
                  <a16:creationId xmlns:a16="http://schemas.microsoft.com/office/drawing/2014/main" id="{87D380C2-3772-7E89-79B1-403B392F6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2657" y="2906522"/>
              <a:ext cx="4759038" cy="417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9pPr>
            </a:lstStyle>
            <a:p>
              <a:pPr eaLnBrk="1" latinLnBrk="1" hangingPunct="1">
                <a:lnSpc>
                  <a:spcPct val="130000"/>
                </a:lnSpc>
              </a:pPr>
              <a:endParaRPr lang="en-US" altLang="ko-KR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KoPubWorld돋움체_Pro Medium" panose="00000600000000000000" pitchFamily="50" charset="-127"/>
              </a:endParaRPr>
            </a:p>
          </p:txBody>
        </p:sp>
      </p:grpSp>
      <p:sp>
        <p:nvSpPr>
          <p:cNvPr id="34820" name="TextBox 13">
            <a:extLst>
              <a:ext uri="{FF2B5EF4-FFF2-40B4-BE49-F238E27FC236}">
                <a16:creationId xmlns:a16="http://schemas.microsoft.com/office/drawing/2014/main" id="{51CF03CF-7ED8-F240-D9DC-078F47200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313" y="2674938"/>
            <a:ext cx="10193337" cy="4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KoPubWorld돋움체_Pro Medium" panose="00000600000000000000" pitchFamily="50" charset="-127"/>
              </a:rPr>
              <a:t>Any comments and suggestions will be appreciated.</a:t>
            </a:r>
            <a:endParaRPr lang="ko-KR" altLang="en-US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KoPubWorld돋움체_Pro Medium" panose="00000600000000000000" pitchFamily="50" charset="-127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5">
      <a:majorFont>
        <a:latin typeface="Noto Sans KR ExtraBold"/>
        <a:ea typeface="Noto Sans KR SemiBold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1818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181818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sz="1200" spc="-150" dirty="0" smtClean="0">
            <a:solidFill>
              <a:srgbClr val="181818"/>
            </a:solidFill>
            <a:latin typeface="KoPubWorld돋움체 Medium"/>
            <a:ea typeface="KoPubWorld돋움체 Medium"/>
            <a:cs typeface="KoPubWorld돋움체 Medium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5419</TotalTime>
  <Words>161</Words>
  <Application>Microsoft Office PowerPoint</Application>
  <PresentationFormat>와이드스크린</PresentationFormat>
  <Paragraphs>27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Noto Sans KR Light</vt:lpstr>
      <vt:lpstr>Noto Sans KR ExtraBold</vt:lpstr>
      <vt:lpstr>Noto Sans KR SemiBold</vt:lpstr>
      <vt:lpstr>Noto Sans KR Medium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changsun.h</dc:creator>
  <cp:lastModifiedBy>Sung-Yong Kim</cp:lastModifiedBy>
  <cp:revision>1520</cp:revision>
  <dcterms:created xsi:type="dcterms:W3CDTF">2021-06-08T04:56:55Z</dcterms:created>
  <dcterms:modified xsi:type="dcterms:W3CDTF">2024-10-04T21:55:30Z</dcterms:modified>
</cp:coreProperties>
</file>