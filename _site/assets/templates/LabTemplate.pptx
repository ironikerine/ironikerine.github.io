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1"/>
  </p:notesMasterIdLst>
  <p:sldIdLst>
    <p:sldId id="299" r:id="rId2"/>
    <p:sldId id="305" r:id="rId3"/>
    <p:sldId id="258" r:id="rId4"/>
    <p:sldId id="259" r:id="rId5"/>
    <p:sldId id="262" r:id="rId6"/>
    <p:sldId id="263" r:id="rId7"/>
    <p:sldId id="296" r:id="rId8"/>
    <p:sldId id="297" r:id="rId9"/>
    <p:sldId id="30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965"/>
    <p:restoredTop sz="97440"/>
  </p:normalViewPr>
  <p:slideViewPr>
    <p:cSldViewPr snapToGrid="0">
      <p:cViewPr varScale="1">
        <p:scale>
          <a:sx n="104" d="100"/>
          <a:sy n="104" d="100"/>
        </p:scale>
        <p:origin x="84" y="516"/>
      </p:cViewPr>
      <p:guideLst>
        <p:guide orient="horz" pos="2157"/>
        <p:guide pos="383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</a:defRPr>
            </a:lvl1pPr>
          </a:lstStyle>
          <a:p>
            <a:pPr>
              <a:defRPr lang="ko-KR"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</a:defRPr>
            </a:lvl1pPr>
          </a:lstStyle>
          <a:p>
            <a:pPr>
              <a:defRPr lang="ko-KR"/>
            </a:pPr>
            <a:fld id="{9F841019-9F18-413F-B26E-0F558C84ABD5}" type="datetime1">
              <a:rPr lang="ko-KR" altLang="en-US" smtClean="0"/>
              <a:pPr>
                <a:defRPr lang="ko-KR"/>
              </a:pPr>
              <a:t>2024-01-19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/>
            </a:pPr>
            <a:r>
              <a:rPr lang="ko-KR" altLang="en-US" dirty="0"/>
              <a:t>마스터 텍스트 스타일을 편집하려면 클릭</a:t>
            </a:r>
          </a:p>
          <a:p>
            <a:pPr lvl="1">
              <a:defRPr lang="ko-KR"/>
            </a:pPr>
            <a:r>
              <a:rPr lang="ko-KR" altLang="en-US" dirty="0"/>
              <a:t>두 번째 수준</a:t>
            </a:r>
          </a:p>
          <a:p>
            <a:pPr lvl="2">
              <a:defRPr lang="ko-KR"/>
            </a:pPr>
            <a:r>
              <a:rPr lang="ko-KR" altLang="en-US" dirty="0"/>
              <a:t>세 번째 수준</a:t>
            </a:r>
          </a:p>
          <a:p>
            <a:pPr lvl="3">
              <a:defRPr lang="ko-KR"/>
            </a:pPr>
            <a:r>
              <a:rPr lang="ko-KR" altLang="en-US" dirty="0"/>
              <a:t>네 번째 수준</a:t>
            </a:r>
          </a:p>
          <a:p>
            <a:pPr lvl="4">
              <a:defRPr lang="ko-KR"/>
            </a:pPr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</a:defRPr>
            </a:lvl1pPr>
          </a:lstStyle>
          <a:p>
            <a:pPr>
              <a:defRPr lang="ko-KR"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KoPubWorld돋움체_Pro Light" panose="00000300000000000000" pitchFamily="50" charset="-127"/>
                <a:ea typeface="KoPubWorld돋움체_Pro Light" panose="00000300000000000000" pitchFamily="50" charset="-127"/>
              </a:defRPr>
            </a:lvl1pPr>
          </a:lstStyle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_Pro Light" panose="00000300000000000000" pitchFamily="50" charset="-127"/>
        <a:ea typeface="KoPubWorld돋움체_Pro Light" panose="000003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World돋움체_Pro Light" panose="00000300000000000000" pitchFamily="50" charset="-127"/>
        <a:ea typeface="KoPubWorld돋움체_Pro Light" panose="000003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World돋움체_Pro Light" panose="00000300000000000000" pitchFamily="50" charset="-127"/>
        <a:ea typeface="KoPubWorld돋움체_Pro Light" panose="000003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World돋움체_Pro Light" panose="00000300000000000000" pitchFamily="50" charset="-127"/>
        <a:ea typeface="KoPubWorld돋움체_Pro Light" panose="000003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World돋움체_Pro Light" panose="00000300000000000000" pitchFamily="50" charset="-127"/>
        <a:ea typeface="KoPubWorld돋움체_Pro Light" panose="000003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/>
            </a:pPr>
            <a:fld id="{BD583F59-9E60-4ADF-A2BF-D60AC9F9208C}" type="slidenum">
              <a:rPr lang="en-US" altLang="en-US"/>
              <a:pPr lvl="0">
                <a:defRPr lang="ko-KR"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621EBFD-3508-4676-9B7E-68E3739EFB31}"/>
              </a:ext>
            </a:extLst>
          </p:cNvPr>
          <p:cNvSpPr/>
          <p:nvPr userDrawn="1"/>
        </p:nvSpPr>
        <p:spPr>
          <a:xfrm>
            <a:off x="0" y="0"/>
            <a:ext cx="12192000" cy="664534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CA6E7D4-8527-4C1F-B833-8FAEA4765D9B}"/>
              </a:ext>
            </a:extLst>
          </p:cNvPr>
          <p:cNvSpPr/>
          <p:nvPr userDrawn="1"/>
        </p:nvSpPr>
        <p:spPr>
          <a:xfrm>
            <a:off x="0" y="3593546"/>
            <a:ext cx="12192001" cy="3264454"/>
          </a:xfrm>
          <a:custGeom>
            <a:avLst/>
            <a:gdLst>
              <a:gd name="connsiteX0" fmla="*/ 11901753 w 12192001"/>
              <a:gd name="connsiteY0" fmla="*/ 771 h 3264454"/>
              <a:gd name="connsiteX1" fmla="*/ 12181460 w 12192001"/>
              <a:gd name="connsiteY1" fmla="*/ 3803 h 3264454"/>
              <a:gd name="connsiteX2" fmla="*/ 12192001 w 12192001"/>
              <a:gd name="connsiteY2" fmla="*/ 4630 h 3264454"/>
              <a:gd name="connsiteX3" fmla="*/ 12192001 w 12192001"/>
              <a:gd name="connsiteY3" fmla="*/ 3264454 h 3264454"/>
              <a:gd name="connsiteX4" fmla="*/ 0 w 12192001"/>
              <a:gd name="connsiteY4" fmla="*/ 3264454 h 3264454"/>
              <a:gd name="connsiteX5" fmla="*/ 0 w 12192001"/>
              <a:gd name="connsiteY5" fmla="*/ 3007649 h 3264454"/>
              <a:gd name="connsiteX6" fmla="*/ 92858 w 12192001"/>
              <a:gd name="connsiteY6" fmla="*/ 2970371 h 3264454"/>
              <a:gd name="connsiteX7" fmla="*/ 11901753 w 12192001"/>
              <a:gd name="connsiteY7" fmla="*/ 771 h 326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3264454">
                <a:moveTo>
                  <a:pt x="11901753" y="771"/>
                </a:moveTo>
                <a:cubicBezTo>
                  <a:pt x="12000715" y="-871"/>
                  <a:pt x="12094089" y="93"/>
                  <a:pt x="12181460" y="3803"/>
                </a:cubicBezTo>
                <a:lnTo>
                  <a:pt x="12192001" y="4630"/>
                </a:lnTo>
                <a:lnTo>
                  <a:pt x="12192001" y="3264454"/>
                </a:lnTo>
                <a:lnTo>
                  <a:pt x="0" y="3264454"/>
                </a:lnTo>
                <a:lnTo>
                  <a:pt x="0" y="3007649"/>
                </a:lnTo>
                <a:lnTo>
                  <a:pt x="92858" y="2970371"/>
                </a:lnTo>
                <a:cubicBezTo>
                  <a:pt x="2901534" y="1869730"/>
                  <a:pt x="9313268" y="43728"/>
                  <a:pt x="11901753" y="7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332B50E-E8B3-4A73-BAF2-AAB402AC3DD4}"/>
              </a:ext>
            </a:extLst>
          </p:cNvPr>
          <p:cNvSpPr/>
          <p:nvPr userDrawn="1"/>
        </p:nvSpPr>
        <p:spPr>
          <a:xfrm>
            <a:off x="41913" y="3867177"/>
            <a:ext cx="12150089" cy="2990823"/>
          </a:xfrm>
          <a:custGeom>
            <a:avLst/>
            <a:gdLst>
              <a:gd name="connsiteX0" fmla="*/ 11859841 w 12150089"/>
              <a:gd name="connsiteY0" fmla="*/ 771 h 2990823"/>
              <a:gd name="connsiteX1" fmla="*/ 12139548 w 12150089"/>
              <a:gd name="connsiteY1" fmla="*/ 3803 h 2990823"/>
              <a:gd name="connsiteX2" fmla="*/ 12150089 w 12150089"/>
              <a:gd name="connsiteY2" fmla="*/ 4630 h 2990823"/>
              <a:gd name="connsiteX3" fmla="*/ 12150089 w 12150089"/>
              <a:gd name="connsiteY3" fmla="*/ 2990823 h 2990823"/>
              <a:gd name="connsiteX4" fmla="*/ 0 w 12150089"/>
              <a:gd name="connsiteY4" fmla="*/ 2990823 h 2990823"/>
              <a:gd name="connsiteX5" fmla="*/ 50945 w 12150089"/>
              <a:gd name="connsiteY5" fmla="*/ 2970371 h 2990823"/>
              <a:gd name="connsiteX6" fmla="*/ 11859841 w 12150089"/>
              <a:gd name="connsiteY6" fmla="*/ 771 h 299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50089" h="2990823">
                <a:moveTo>
                  <a:pt x="11859841" y="771"/>
                </a:moveTo>
                <a:cubicBezTo>
                  <a:pt x="11958803" y="-871"/>
                  <a:pt x="12052177" y="93"/>
                  <a:pt x="12139548" y="3803"/>
                </a:cubicBezTo>
                <a:lnTo>
                  <a:pt x="12150089" y="4630"/>
                </a:lnTo>
                <a:lnTo>
                  <a:pt x="12150089" y="2990823"/>
                </a:lnTo>
                <a:lnTo>
                  <a:pt x="0" y="2990823"/>
                </a:lnTo>
                <a:lnTo>
                  <a:pt x="50945" y="2970371"/>
                </a:lnTo>
                <a:cubicBezTo>
                  <a:pt x="2859623" y="1869730"/>
                  <a:pt x="9271356" y="43728"/>
                  <a:pt x="11859841" y="771"/>
                </a:cubicBezTo>
                <a:close/>
              </a:path>
            </a:pathLst>
          </a:cu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98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51A9AA-CCBD-4544-B0B3-DE77C2F3BB91}"/>
              </a:ext>
            </a:extLst>
          </p:cNvPr>
          <p:cNvSpPr/>
          <p:nvPr userDrawn="1"/>
        </p:nvSpPr>
        <p:spPr>
          <a:xfrm>
            <a:off x="0" y="4267200"/>
            <a:ext cx="7524750" cy="1641475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A1FC1E-86BA-4BDC-9EF4-CB1A160976D0}"/>
              </a:ext>
            </a:extLst>
          </p:cNvPr>
          <p:cNvSpPr/>
          <p:nvPr userDrawn="1"/>
        </p:nvSpPr>
        <p:spPr>
          <a:xfrm>
            <a:off x="10684050" y="4331617"/>
            <a:ext cx="1507950" cy="1641475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95ECA-6C45-4640-8CDA-687F769DAE51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3A55F9-42DC-40B0-85FB-3EE9D2626446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468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76FAF0C-24CE-455A-ACB9-25B7B05DAD60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0DB69C-536C-4796-9CD5-E1D2480709AD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  <a:ea typeface="나눔명조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37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DA2A053-4BA6-4D0D-A58C-897397B87619}"/>
              </a:ext>
            </a:extLst>
          </p:cNvPr>
          <p:cNvSpPr/>
          <p:nvPr userDrawn="1"/>
        </p:nvSpPr>
        <p:spPr>
          <a:xfrm>
            <a:off x="0" y="4267200"/>
            <a:ext cx="7603958" cy="1641475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BA92E6-E2FC-4533-8C1C-79BDFC119565}"/>
              </a:ext>
            </a:extLst>
          </p:cNvPr>
          <p:cNvSpPr/>
          <p:nvPr userDrawn="1"/>
        </p:nvSpPr>
        <p:spPr>
          <a:xfrm>
            <a:off x="10684042" y="4331617"/>
            <a:ext cx="1507958" cy="1641475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170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385EC-92C6-4A54-B7AE-E6B47CECB170}"/>
              </a:ext>
            </a:extLst>
          </p:cNvPr>
          <p:cNvSpPr txBox="1"/>
          <p:nvPr userDrawn="1"/>
        </p:nvSpPr>
        <p:spPr>
          <a:xfrm>
            <a:off x="7623625" y="190921"/>
            <a:ext cx="4258101" cy="33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 lvl="0" algn="r"/>
            <a:r>
              <a:rPr lang="ko-KR" altLang="en-US" sz="1200" spc="0" dirty="0">
                <a:solidFill>
                  <a:schemeClr val="bg1">
                    <a:lumMod val="65000"/>
                  </a:schemeClr>
                </a:solidFill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영화를 활용한 집단상담</a:t>
            </a: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7388310E-80F0-4592-A9DD-A98144662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0274" y="374877"/>
            <a:ext cx="5183908" cy="4524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buNone/>
              <a:defRPr lang="ko-KR" altLang="en-US" sz="1800" spc="-15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defRPr>
            </a:lvl1pPr>
          </a:lstStyle>
          <a:p>
            <a:pPr marL="0" lvl="0">
              <a:lnSpc>
                <a:spcPct val="130000"/>
              </a:lnSpc>
            </a:pPr>
            <a:r>
              <a:rPr lang="ko-KR" altLang="en-US" dirty="0"/>
              <a:t>제목</a:t>
            </a:r>
            <a:r>
              <a:rPr lang="en-US" altLang="ko-KR" dirty="0"/>
              <a:t>(20)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1C7A94-4C25-4999-9A32-0550B9B7E531}"/>
              </a:ext>
            </a:extLst>
          </p:cNvPr>
          <p:cNvSpPr/>
          <p:nvPr userDrawn="1"/>
        </p:nvSpPr>
        <p:spPr>
          <a:xfrm>
            <a:off x="0" y="0"/>
            <a:ext cx="7524750" cy="64417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D52F23-08E2-4CFB-8037-EFF0292029E5}"/>
              </a:ext>
            </a:extLst>
          </p:cNvPr>
          <p:cNvSpPr/>
          <p:nvPr userDrawn="1"/>
        </p:nvSpPr>
        <p:spPr>
          <a:xfrm>
            <a:off x="7524750" y="-2114"/>
            <a:ext cx="4680000" cy="64418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_Pro Light" panose="000003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735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67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8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09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1" r:id="rId5"/>
    <p:sldLayoutId id="2147483653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D34AC4C-2E36-37B9-FF80-3C2F34588163}"/>
              </a:ext>
            </a:extLst>
          </p:cNvPr>
          <p:cNvSpPr txBox="1"/>
          <p:nvPr/>
        </p:nvSpPr>
        <p:spPr bwMode="auto">
          <a:xfrm>
            <a:off x="7563353" y="4720452"/>
            <a:ext cx="3038475" cy="812530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 lang="ko-KR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창원대학교 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건축학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부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 lang="ko-KR"/>
            </a:pP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부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교수 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김성용</a:t>
            </a:r>
          </a:p>
        </p:txBody>
      </p:sp>
      <p:grpSp>
        <p:nvGrpSpPr>
          <p:cNvPr id="7171" name="그룹 12">
            <a:extLst>
              <a:ext uri="{FF2B5EF4-FFF2-40B4-BE49-F238E27FC236}">
                <a16:creationId xmlns:a16="http://schemas.microsoft.com/office/drawing/2014/main" id="{6852F1C2-CFF4-C46C-254A-EF498561EB50}"/>
              </a:ext>
            </a:extLst>
          </p:cNvPr>
          <p:cNvGrpSpPr>
            <a:grpSpLocks/>
          </p:cNvGrpSpPr>
          <p:nvPr/>
        </p:nvGrpSpPr>
        <p:grpSpPr bwMode="auto">
          <a:xfrm>
            <a:off x="1009650" y="1147763"/>
            <a:ext cx="10225088" cy="1338211"/>
            <a:chOff x="3047635" y="739698"/>
            <a:chExt cx="5984791" cy="1336750"/>
          </a:xfrm>
        </p:grpSpPr>
        <p:sp>
          <p:nvSpPr>
            <p:cNvPr id="7174" name="TextBox 13">
              <a:extLst>
                <a:ext uri="{FF2B5EF4-FFF2-40B4-BE49-F238E27FC236}">
                  <a16:creationId xmlns:a16="http://schemas.microsoft.com/office/drawing/2014/main" id="{90A1E654-4C9E-5AFE-2450-EC33AE27D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6228" y="1624510"/>
              <a:ext cx="5966198" cy="45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dirty="0">
                  <a:solidFill>
                    <a:srgbClr val="181818"/>
                  </a:solidFill>
                  <a:latin typeface="+mn-ea"/>
                  <a:ea typeface="+mn-ea"/>
                  <a:cs typeface="KoPubWorld돋움체_Pro Medium" panose="00000600000000000000" pitchFamily="50" charset="-127"/>
                </a:rPr>
                <a:t>Proposal of Seismic Design Procedure for Factory Facilities Applying Slender Additions</a:t>
              </a:r>
              <a:endParaRPr lang="ko-KR" altLang="en-US" dirty="0">
                <a:solidFill>
                  <a:srgbClr val="181818"/>
                </a:solidFill>
                <a:latin typeface="+mn-ea"/>
                <a:ea typeface="+mn-ea"/>
                <a:cs typeface="KoPubWorld돋움체_Pro Medium" panose="00000600000000000000" pitchFamily="50" charset="-127"/>
              </a:endParaRPr>
            </a:p>
          </p:txBody>
        </p:sp>
        <p:sp>
          <p:nvSpPr>
            <p:cNvPr id="7175" name="TextBox 14">
              <a:extLst>
                <a:ext uri="{FF2B5EF4-FFF2-40B4-BE49-F238E27FC236}">
                  <a16:creationId xmlns:a16="http://schemas.microsoft.com/office/drawing/2014/main" id="{8BFD634D-F5A4-E93B-6406-DC4AF53CD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7635" y="739698"/>
              <a:ext cx="5806376" cy="976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25000"/>
                </a:lnSpc>
              </a:pPr>
              <a:r>
                <a:rPr lang="ko-KR" altLang="en-US" sz="4000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세장한 가세를 적용한 공장 시설물의 </a:t>
              </a:r>
              <a:endParaRPr lang="en-US" altLang="ko-KR" sz="400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eaLnBrk="1" latinLnBrk="1" hangingPunct="1">
                <a:lnSpc>
                  <a:spcPct val="25000"/>
                </a:lnSpc>
              </a:pPr>
              <a:endParaRPr lang="en-US" altLang="ko-KR" sz="400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eaLnBrk="1" latinLnBrk="1" hangingPunct="1">
                <a:lnSpc>
                  <a:spcPct val="25000"/>
                </a:lnSpc>
              </a:pPr>
              <a:endParaRPr lang="en-US" altLang="ko-KR" sz="400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eaLnBrk="1" latinLnBrk="1" hangingPunct="1">
                <a:lnSpc>
                  <a:spcPct val="25000"/>
                </a:lnSpc>
              </a:pPr>
              <a:endParaRPr lang="en-US" altLang="ko-KR" sz="400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eaLnBrk="1" latinLnBrk="1" hangingPunct="1">
                <a:lnSpc>
                  <a:spcPct val="25000"/>
                </a:lnSpc>
              </a:pPr>
              <a:r>
                <a:rPr lang="ko-KR" altLang="en-US" sz="4000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내진설계 절차 제안</a:t>
              </a:r>
              <a:endParaRPr lang="en-US" altLang="ko-KR" sz="400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</p:grpSp>
      <p:pic>
        <p:nvPicPr>
          <p:cNvPr id="7172" name="Picture 3">
            <a:extLst>
              <a:ext uri="{FF2B5EF4-FFF2-40B4-BE49-F238E27FC236}">
                <a16:creationId xmlns:a16="http://schemas.microsoft.com/office/drawing/2014/main" id="{5AB56F64-ACFF-2B9F-2201-525F98F2A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t="13412" r="31664" b="74496"/>
          <a:stretch>
            <a:fillRect/>
          </a:stretch>
        </p:blipFill>
        <p:spPr bwMode="auto">
          <a:xfrm>
            <a:off x="5097463" y="6078538"/>
            <a:ext cx="2081212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extBox 13">
            <a:extLst>
              <a:ext uri="{FF2B5EF4-FFF2-40B4-BE49-F238E27FC236}">
                <a16:creationId xmlns:a16="http://schemas.microsoft.com/office/drawing/2014/main" id="{39E5E729-89A8-886D-0DC8-FA3A5E057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513" y="3722688"/>
            <a:ext cx="1966912" cy="45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dirty="0">
                <a:latin typeface="+mj-ea"/>
                <a:ea typeface="+mj-ea"/>
                <a:cs typeface="KoPubWorld돋움체_Pro Medium" panose="00000600000000000000" pitchFamily="50" charset="-127"/>
              </a:rPr>
              <a:t>2024</a:t>
            </a:r>
            <a:r>
              <a:rPr lang="ko-KR" altLang="en-US" dirty="0">
                <a:latin typeface="+mj-ea"/>
                <a:ea typeface="+mj-ea"/>
                <a:cs typeface="KoPubWorld돋움체_Pro Medium" panose="00000600000000000000" pitchFamily="50" charset="-127"/>
              </a:rPr>
              <a:t>년 </a:t>
            </a:r>
            <a:r>
              <a:rPr lang="en-US" altLang="ko-KR" dirty="0">
                <a:latin typeface="+mj-ea"/>
                <a:ea typeface="+mj-ea"/>
                <a:cs typeface="KoPubWorld돋움체_Pro Medium" panose="00000600000000000000" pitchFamily="50" charset="-127"/>
              </a:rPr>
              <a:t>01</a:t>
            </a:r>
            <a:r>
              <a:rPr lang="ko-KR" altLang="en-US" dirty="0">
                <a:latin typeface="+mj-ea"/>
                <a:ea typeface="+mj-ea"/>
                <a:cs typeface="KoPubWorld돋움체_Pro Medium" panose="00000600000000000000" pitchFamily="50" charset="-127"/>
              </a:rPr>
              <a:t>월 </a:t>
            </a:r>
            <a:r>
              <a:rPr lang="en-US" altLang="ko-KR" dirty="0">
                <a:latin typeface="+mj-ea"/>
                <a:ea typeface="+mj-ea"/>
                <a:cs typeface="KoPubWorld돋움체_Pro Medium" panose="00000600000000000000" pitchFamily="50" charset="-127"/>
              </a:rPr>
              <a:t>10</a:t>
            </a:r>
            <a:r>
              <a:rPr lang="ko-KR" altLang="en-US" dirty="0">
                <a:latin typeface="+mj-ea"/>
                <a:ea typeface="+mj-ea"/>
                <a:cs typeface="KoPubWorld돋움체_Pro Medium" panose="00000600000000000000" pitchFamily="50" charset="-127"/>
              </a:rPr>
              <a:t>일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13">
            <a:extLst>
              <a:ext uri="{FF2B5EF4-FFF2-40B4-BE49-F238E27FC236}">
                <a16:creationId xmlns:a16="http://schemas.microsoft.com/office/drawing/2014/main" id="{B7DCF6B0-C8DB-9CEE-7313-C7B86BDA1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488" y="2809875"/>
            <a:ext cx="3122612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sz="540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Outline</a:t>
            </a:r>
            <a:endParaRPr lang="ko-KR" altLang="en-US" sz="2400" dirty="0">
              <a:solidFill>
                <a:srgbClr val="181818"/>
              </a:solidFill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grpSp>
        <p:nvGrpSpPr>
          <p:cNvPr id="8196" name="그룹 1">
            <a:extLst>
              <a:ext uri="{FF2B5EF4-FFF2-40B4-BE49-F238E27FC236}">
                <a16:creationId xmlns:a16="http://schemas.microsoft.com/office/drawing/2014/main" id="{374F4311-1418-0A6E-0198-97C5ED74FADA}"/>
              </a:ext>
            </a:extLst>
          </p:cNvPr>
          <p:cNvGrpSpPr>
            <a:grpSpLocks/>
          </p:cNvGrpSpPr>
          <p:nvPr/>
        </p:nvGrpSpPr>
        <p:grpSpPr bwMode="auto">
          <a:xfrm>
            <a:off x="4624388" y="3122613"/>
            <a:ext cx="6888162" cy="954139"/>
            <a:chOff x="6841220" y="1306301"/>
            <a:chExt cx="4889110" cy="956345"/>
          </a:xfrm>
        </p:grpSpPr>
        <p:sp>
          <p:nvSpPr>
            <p:cNvPr id="8205" name="TextBox 51">
              <a:extLst>
                <a:ext uri="{FF2B5EF4-FFF2-40B4-BE49-F238E27FC236}">
                  <a16:creationId xmlns:a16="http://schemas.microsoft.com/office/drawing/2014/main" id="{0F3DE2A3-E2EE-FA55-B02E-989A8CDBC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20" y="1306301"/>
              <a:ext cx="1723606" cy="814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2.  </a:t>
              </a:r>
              <a:r>
                <a:rPr lang="ko-KR" altLang="en-US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대상 건축물</a:t>
              </a:r>
              <a:endParaRPr lang="en-US" altLang="ko-KR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  <a:p>
              <a:pPr eaLnBrk="1" latinLnBrk="1" hangingPunct="1">
                <a:lnSpc>
                  <a:spcPct val="130000"/>
                </a:lnSpc>
              </a:pPr>
              <a:r>
                <a:rPr lang="en-US" altLang="ko-KR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    </a:t>
              </a:r>
              <a:r>
                <a:rPr lang="ko-KR" altLang="en-US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 </a:t>
              </a:r>
              <a:r>
                <a:rPr lang="ko-KR" altLang="en-US" dirty="0" err="1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비정형성</a:t>
              </a:r>
              <a:r>
                <a:rPr lang="ko-KR" altLang="en-US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 판단</a:t>
              </a:r>
              <a:r>
                <a:rPr lang="en-US" altLang="ko-KR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 </a:t>
              </a:r>
            </a:p>
          </p:txBody>
        </p:sp>
        <p:sp>
          <p:nvSpPr>
            <p:cNvPr id="8206" name="TextBox 52">
              <a:extLst>
                <a:ext uri="{FF2B5EF4-FFF2-40B4-BE49-F238E27FC236}">
                  <a16:creationId xmlns:a16="http://schemas.microsoft.com/office/drawing/2014/main" id="{F013D1D6-8BB3-3522-2E3C-AA7A01FA8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1412" y="1327927"/>
              <a:ext cx="1888918" cy="934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2.1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내진설계범주 분류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2.2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평면 </a:t>
              </a:r>
              <a:r>
                <a:rPr lang="ko-KR" altLang="en-US" sz="1400" dirty="0" err="1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비정형성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 판단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2.3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수직 </a:t>
              </a:r>
              <a:r>
                <a:rPr lang="ko-KR" altLang="en-US" sz="1400" dirty="0" err="1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비정형성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 판단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6C988F4-4179-D821-325F-F88E2CC274B4}"/>
                </a:ext>
              </a:extLst>
            </p:cNvPr>
            <p:cNvCxnSpPr>
              <a:cxnSpLocks/>
            </p:cNvCxnSpPr>
            <p:nvPr/>
          </p:nvCxnSpPr>
          <p:spPr>
            <a:xfrm>
              <a:off x="8237303" y="1495650"/>
              <a:ext cx="1451296" cy="0"/>
            </a:xfrm>
            <a:prstGeom prst="line">
              <a:avLst/>
            </a:prstGeom>
            <a:ln w="6350">
              <a:solidFill>
                <a:srgbClr val="201851">
                  <a:alpha val="72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97" name="그룹 1">
            <a:extLst>
              <a:ext uri="{FF2B5EF4-FFF2-40B4-BE49-F238E27FC236}">
                <a16:creationId xmlns:a16="http://schemas.microsoft.com/office/drawing/2014/main" id="{AEEB36A1-D236-3C28-021F-0366D38056D3}"/>
              </a:ext>
            </a:extLst>
          </p:cNvPr>
          <p:cNvGrpSpPr>
            <a:grpSpLocks/>
          </p:cNvGrpSpPr>
          <p:nvPr/>
        </p:nvGrpSpPr>
        <p:grpSpPr bwMode="auto">
          <a:xfrm>
            <a:off x="4624388" y="4433888"/>
            <a:ext cx="6888162" cy="954139"/>
            <a:chOff x="6841220" y="1306301"/>
            <a:chExt cx="4889110" cy="956345"/>
          </a:xfrm>
        </p:grpSpPr>
        <p:sp>
          <p:nvSpPr>
            <p:cNvPr id="8202" name="TextBox 51">
              <a:extLst>
                <a:ext uri="{FF2B5EF4-FFF2-40B4-BE49-F238E27FC236}">
                  <a16:creationId xmlns:a16="http://schemas.microsoft.com/office/drawing/2014/main" id="{4A410805-B204-3EDE-90AA-C26FD76B6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20" y="1306301"/>
              <a:ext cx="1723606" cy="453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3.  Pushover </a:t>
              </a:r>
              <a:r>
                <a:rPr lang="ko-KR" altLang="en-US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해석</a:t>
              </a:r>
              <a:endParaRPr lang="en-US" altLang="ko-KR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8203" name="TextBox 52">
              <a:extLst>
                <a:ext uri="{FF2B5EF4-FFF2-40B4-BE49-F238E27FC236}">
                  <a16:creationId xmlns:a16="http://schemas.microsoft.com/office/drawing/2014/main" id="{E3E20432-EF1D-8435-E17B-C9C8E99D1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1412" y="1327927"/>
              <a:ext cx="1888918" cy="934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3.1 Pushover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데이터 입력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3.2 Pushover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해석결과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3.3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구조물의 성능 검토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348EE5D6-40CF-D8D4-DB74-78D913C63999}"/>
                </a:ext>
              </a:extLst>
            </p:cNvPr>
            <p:cNvCxnSpPr>
              <a:cxnSpLocks/>
            </p:cNvCxnSpPr>
            <p:nvPr/>
          </p:nvCxnSpPr>
          <p:spPr>
            <a:xfrm>
              <a:off x="8237303" y="1495650"/>
              <a:ext cx="1451296" cy="0"/>
            </a:xfrm>
            <a:prstGeom prst="line">
              <a:avLst/>
            </a:prstGeom>
            <a:ln w="6350">
              <a:solidFill>
                <a:srgbClr val="201851">
                  <a:alpha val="72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98" name="그룹 1">
            <a:extLst>
              <a:ext uri="{FF2B5EF4-FFF2-40B4-BE49-F238E27FC236}">
                <a16:creationId xmlns:a16="http://schemas.microsoft.com/office/drawing/2014/main" id="{2F75D8D1-A325-665B-8A35-12FD79535767}"/>
              </a:ext>
            </a:extLst>
          </p:cNvPr>
          <p:cNvGrpSpPr>
            <a:grpSpLocks/>
          </p:cNvGrpSpPr>
          <p:nvPr/>
        </p:nvGrpSpPr>
        <p:grpSpPr bwMode="auto">
          <a:xfrm>
            <a:off x="4624388" y="1944688"/>
            <a:ext cx="6888162" cy="674087"/>
            <a:chOff x="6841220" y="1306301"/>
            <a:chExt cx="4889110" cy="674879"/>
          </a:xfrm>
        </p:grpSpPr>
        <p:sp>
          <p:nvSpPr>
            <p:cNvPr id="8199" name="TextBox 51">
              <a:extLst>
                <a:ext uri="{FF2B5EF4-FFF2-40B4-BE49-F238E27FC236}">
                  <a16:creationId xmlns:a16="http://schemas.microsoft.com/office/drawing/2014/main" id="{1D036A8E-2479-13BC-773B-828F3F0F0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220" y="1306301"/>
              <a:ext cx="1723606" cy="4529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1.  </a:t>
              </a:r>
              <a:r>
                <a:rPr lang="ko-KR" altLang="en-US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대상 건축물</a:t>
              </a:r>
              <a:r>
                <a:rPr lang="en-US" altLang="ko-KR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 </a:t>
              </a:r>
              <a:r>
                <a:rPr lang="ko-KR" altLang="en-US" dirty="0">
                  <a:solidFill>
                    <a:srgbClr val="181818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소개</a:t>
              </a:r>
              <a:endParaRPr lang="en-US" altLang="ko-KR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8200" name="TextBox 52">
              <a:extLst>
                <a:ext uri="{FF2B5EF4-FFF2-40B4-BE49-F238E27FC236}">
                  <a16:creationId xmlns:a16="http://schemas.microsoft.com/office/drawing/2014/main" id="{60EA1D64-2407-F391-843C-69F2D1DF6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1412" y="1327927"/>
              <a:ext cx="1888918" cy="653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1.1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건축물 개요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1.2 </a:t>
              </a:r>
              <a:r>
                <a:rPr lang="ko-KR" altLang="en-US" sz="1400" dirty="0">
                  <a:solidFill>
                    <a:srgbClr val="181818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적용 하중</a:t>
              </a:r>
              <a:endParaRPr lang="en-US" altLang="ko-KR" sz="1400" dirty="0">
                <a:solidFill>
                  <a:srgbClr val="181818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4558DBE-B4AE-C81C-1FCE-F442D28780F0}"/>
                </a:ext>
              </a:extLst>
            </p:cNvPr>
            <p:cNvCxnSpPr>
              <a:cxnSpLocks/>
            </p:cNvCxnSpPr>
            <p:nvPr/>
          </p:nvCxnSpPr>
          <p:spPr>
            <a:xfrm>
              <a:off x="8328573" y="1495435"/>
              <a:ext cx="1360026" cy="0"/>
            </a:xfrm>
            <a:prstGeom prst="line">
              <a:avLst/>
            </a:prstGeom>
            <a:ln w="6350">
              <a:solidFill>
                <a:srgbClr val="201851">
                  <a:alpha val="72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1826" y="2535555"/>
            <a:ext cx="4570198" cy="107372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2400">
                <a:solidFill>
                  <a:srgbClr val="181818"/>
                </a:solidFill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 algn="ctr">
              <a:lnSpc>
                <a:spcPct val="100000"/>
              </a:lnSpc>
              <a:defRPr lang="ko-KR"/>
            </a:pPr>
            <a:r>
              <a:rPr lang="en-US" altLang="ko-KR" sz="3200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1. </a:t>
            </a:r>
            <a:r>
              <a:rPr lang="ko-KR" altLang="en-US" sz="3200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서론</a:t>
            </a:r>
          </a:p>
          <a:p>
            <a:pPr algn="ctr">
              <a:lnSpc>
                <a:spcPct val="100000"/>
              </a:lnSpc>
              <a:defRPr lang="ko-KR"/>
            </a:pPr>
            <a:endParaRPr lang="en-US" altLang="ko-KR" sz="3200" dirty="0"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12312" y="4593882"/>
            <a:ext cx="3160223" cy="8048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181818"/>
                </a:solidFill>
                <a:latin typeface="KoPubWorld돋움체 Light"/>
                <a:ea typeface="KoPubWorld돋움체 Light"/>
                <a:cs typeface="KoPubWorld돋움체 Light"/>
              </a:defRPr>
            </a:lvl1pPr>
          </a:lstStyle>
          <a:p>
            <a:pPr lvl="0">
              <a:defRPr lang="ko-KR" altLang="en-US"/>
            </a:pPr>
            <a:r>
              <a:rPr lang="en-US" altLang="ko-KR" sz="1800" dirty="0"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1.1 </a:t>
            </a:r>
            <a:r>
              <a:rPr lang="ko-KR" altLang="en-US" sz="1800" dirty="0"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연구 배경</a:t>
            </a:r>
          </a:p>
          <a:p>
            <a:pPr lvl="0">
              <a:defRPr lang="ko-KR" altLang="en-US"/>
            </a:pPr>
            <a:r>
              <a:rPr lang="en-US" altLang="ko-KR" sz="1800" dirty="0"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1.2 </a:t>
            </a:r>
            <a:r>
              <a:rPr lang="ko-KR" altLang="en-US" sz="1800" dirty="0"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연구 목적 및 중요성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6733" y="549275"/>
            <a:ext cx="3298797" cy="325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181818"/>
                </a:solidFill>
                <a:latin typeface="KoPubWorld돋움체 Light"/>
                <a:ea typeface="KoPubWorld돋움체 Light"/>
                <a:cs typeface="KoPubWorld돋움체 Light"/>
              </a:defRPr>
            </a:lvl1pPr>
          </a:lstStyle>
          <a:p>
            <a:pPr lvl="0">
              <a:defRPr lang="ko-KR"/>
            </a:pPr>
            <a:r>
              <a:rPr lang="ko-KR" altLang="en-US" sz="1200" dirty="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건축공학과 석사 졸업논문발표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683" y="736870"/>
            <a:ext cx="6594823" cy="469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2400">
                <a:solidFill>
                  <a:srgbClr val="181818"/>
                </a:solidFill>
                <a:latin typeface="KoPubWorld돋움체 Bold"/>
                <a:ea typeface="KoPubWorld돋움체 Bold"/>
                <a:cs typeface="KoPubWorld돋움체 Bold"/>
              </a:defRPr>
            </a:lvl1pPr>
          </a:lstStyle>
          <a:p>
            <a:pPr lvl="0">
              <a:defRPr lang="ko-KR"/>
            </a:pPr>
            <a:r>
              <a:rPr lang="ko-KR" altLang="en-US" sz="2000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현대 건축 </a:t>
            </a:r>
            <a:r>
              <a:rPr lang="ko-KR" altLang="en-US" sz="2000" dirty="0" err="1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구조기준을</a:t>
            </a:r>
            <a:r>
              <a:rPr lang="ko-KR" altLang="en-US" sz="2000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반영한 주골재설계용 </a:t>
            </a:r>
            <a:r>
              <a:rPr lang="ko-KR" altLang="en-US" sz="2000" dirty="0" err="1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풍하중산정</a:t>
            </a:r>
            <a:endParaRPr lang="ko-KR" altLang="en-US" sz="2000" dirty="0">
              <a:latin typeface="KoPubWorld돋움체_Pro Bold" panose="00000800000000000000" pitchFamily="50" charset="-127"/>
              <a:ea typeface="KoPubWorld돋움체_Pro Bold" panose="00000800000000000000" pitchFamily="50" charset="-127"/>
              <a:cs typeface="KoPubWorld돋움체_Pro Bold" panose="000008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34074" y="287655"/>
            <a:ext cx="1480437" cy="367665"/>
          </a:xfrm>
        </p:spPr>
        <p:txBody>
          <a:bodyPr/>
          <a:lstStyle/>
          <a:p>
            <a:pPr lvl="0">
              <a:defRPr lang="ko-KR"/>
            </a:pPr>
            <a:r>
              <a:rPr lang="ko-KR" altLang="en-US" sz="2000" dirty="0"/>
              <a:t>1. 서론</a:t>
            </a:r>
          </a:p>
        </p:txBody>
      </p:sp>
      <p:sp>
        <p:nvSpPr>
          <p:cNvPr id="21" name="텍스트 개체 틀 6"/>
          <p:cNvSpPr txBox="1"/>
          <p:nvPr/>
        </p:nvSpPr>
        <p:spPr>
          <a:xfrm>
            <a:off x="870362" y="1824681"/>
            <a:ext cx="4505549" cy="3724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181818"/>
                </a:solidFill>
                <a:latin typeface="KoPubWorld돋움체 Light"/>
                <a:ea typeface="KoPubWorld돋움체 Light"/>
                <a:cs typeface="KoPubWorld돋움체 Light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  <a:defRPr lang="ko-KR"/>
            </a:pPr>
            <a:r>
              <a:rPr lang="ko-KR" altLang="en-US" dirty="0"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 연구배경</a:t>
            </a:r>
          </a:p>
        </p:txBody>
      </p:sp>
      <p:grpSp>
        <p:nvGrpSpPr>
          <p:cNvPr id="98" name="그룹 97"/>
          <p:cNvGrpSpPr/>
          <p:nvPr/>
        </p:nvGrpSpPr>
        <p:grpSpPr>
          <a:xfrm>
            <a:off x="805234" y="1216466"/>
            <a:ext cx="4730075" cy="452432"/>
            <a:chOff x="1014764" y="7744001"/>
            <a:chExt cx="4730075" cy="452432"/>
          </a:xfrm>
        </p:grpSpPr>
        <p:sp>
          <p:nvSpPr>
            <p:cNvPr id="103" name="직사각형 102"/>
            <p:cNvSpPr/>
            <p:nvPr/>
          </p:nvSpPr>
          <p:spPr>
            <a:xfrm>
              <a:off x="1014764" y="7950521"/>
              <a:ext cx="4730075" cy="51016"/>
            </a:xfrm>
            <a:prstGeom prst="rect">
              <a:avLst/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00" name="사각형: 둥근 모서리 99"/>
            <p:cNvSpPr/>
            <p:nvPr/>
          </p:nvSpPr>
          <p:spPr>
            <a:xfrm>
              <a:off x="1110806" y="7789354"/>
              <a:ext cx="2556000" cy="360000"/>
            </a:xfrm>
            <a:prstGeom prst="roundRect">
              <a:avLst>
                <a:gd name="adj" fmla="val 50000"/>
              </a:avLst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95672" y="7744001"/>
              <a:ext cx="2184343" cy="452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>
                  <a:solidFill>
                    <a:srgbClr val="181818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 lang="ko-KR"/>
              </a:pPr>
              <a:r>
                <a:rPr lang="ko-KR" altLang="en-US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연구 배경</a:t>
              </a:r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10142049" y="124104"/>
            <a:ext cx="1923143" cy="598714"/>
          </a:xfrm>
          <a:prstGeom prst="rect">
            <a:avLst/>
          </a:prstGeom>
          <a:solidFill>
            <a:schemeClr val="lt1"/>
          </a:solidFill>
          <a:ln/>
          <a:effectLst>
            <a:softEdge rad="381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/>
            </a:pPr>
            <a:endParaRPr lang="ko-KR"/>
          </a:p>
        </p:txBody>
      </p:sp>
      <p:sp>
        <p:nvSpPr>
          <p:cNvPr id="111" name="텍스트 개체 틀 1"/>
          <p:cNvSpPr>
            <a:spLocks noGrp="1"/>
          </p:cNvSpPr>
          <p:nvPr/>
        </p:nvSpPr>
        <p:spPr>
          <a:xfrm>
            <a:off x="10569700" y="279610"/>
            <a:ext cx="1411507" cy="320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algn="l" defTabSz="885826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ko-KR"/>
            </a:pPr>
            <a:r>
              <a:rPr lang="ko-KR" altLang="en-US" sz="1600" b="0" i="0" u="none" kern="1200" spc="-15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1-1. 연구배경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AA0D0D1-31B9-04DB-E044-8678CAFAF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t="13412" r="31664" b="74496"/>
          <a:stretch>
            <a:fillRect/>
          </a:stretch>
        </p:blipFill>
        <p:spPr bwMode="auto">
          <a:xfrm>
            <a:off x="10067925" y="6215063"/>
            <a:ext cx="199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34074" y="282975"/>
            <a:ext cx="1480437" cy="377026"/>
          </a:xfrm>
        </p:spPr>
        <p:txBody>
          <a:bodyPr/>
          <a:lstStyle/>
          <a:p>
            <a:pPr lvl="0">
              <a:defRPr lang="ko-KR"/>
            </a:pPr>
            <a:r>
              <a:rPr lang="ko-KR" altLang="en-US" sz="2000" dirty="0"/>
              <a:t>2.  연구과정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10180149" y="124104"/>
            <a:ext cx="1923143" cy="598714"/>
          </a:xfrm>
          <a:prstGeom prst="rect">
            <a:avLst/>
          </a:prstGeom>
          <a:solidFill>
            <a:schemeClr val="lt1"/>
          </a:solidFill>
          <a:ln/>
          <a:effectLst>
            <a:softEdge rad="381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/>
            </a:pPr>
            <a:endParaRPr lang="ko-KR"/>
          </a:p>
        </p:txBody>
      </p:sp>
      <p:sp>
        <p:nvSpPr>
          <p:cNvPr id="111" name="텍스트 개체 틀 1"/>
          <p:cNvSpPr>
            <a:spLocks noGrp="1"/>
          </p:cNvSpPr>
          <p:nvPr/>
        </p:nvSpPr>
        <p:spPr>
          <a:xfrm>
            <a:off x="9185067" y="282869"/>
            <a:ext cx="2658530" cy="320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algn="l" defTabSz="871876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ko-KR"/>
            </a:pPr>
            <a:r>
              <a:rPr lang="ko-KR" altLang="en-US" sz="1600" b="0" i="0" u="none" kern="1200" spc="-15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2.1. </a:t>
            </a:r>
            <a:r>
              <a:rPr lang="ko-KR" altLang="en-US" sz="1600" b="0" i="0" u="none" kern="1200" spc="-150" dirty="0" err="1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연구흐림</a:t>
            </a:r>
            <a:r>
              <a:rPr lang="ko-KR" altLang="en-US" sz="1600" b="0" i="0" u="none" kern="1200" spc="-15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및 연구 접근방식</a:t>
            </a:r>
          </a:p>
        </p:txBody>
      </p:sp>
      <p:grpSp>
        <p:nvGrpSpPr>
          <p:cNvPr id="112" name="그룹 3"/>
          <p:cNvGrpSpPr/>
          <p:nvPr/>
        </p:nvGrpSpPr>
        <p:grpSpPr>
          <a:xfrm>
            <a:off x="1607347" y="1240953"/>
            <a:ext cx="8816276" cy="769442"/>
            <a:chOff x="1607347" y="1529810"/>
            <a:chExt cx="8816276" cy="769442"/>
          </a:xfrm>
        </p:grpSpPr>
        <p:sp>
          <p:nvSpPr>
            <p:cNvPr id="113" name="사각형: 둥근 모서리 20"/>
            <p:cNvSpPr/>
            <p:nvPr/>
          </p:nvSpPr>
          <p:spPr>
            <a:xfrm>
              <a:off x="1757295" y="1529810"/>
              <a:ext cx="8666328" cy="76944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14" name="타원 21"/>
            <p:cNvSpPr/>
            <p:nvPr/>
          </p:nvSpPr>
          <p:spPr>
            <a:xfrm>
              <a:off x="1834631" y="1590531"/>
              <a:ext cx="648000" cy="648000"/>
            </a:xfrm>
            <a:prstGeom prst="ellipse">
              <a:avLst/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15" name="텍스트 개체 틀 6"/>
            <p:cNvSpPr txBox="1"/>
            <p:nvPr/>
          </p:nvSpPr>
          <p:spPr>
            <a:xfrm>
              <a:off x="2695878" y="1727278"/>
              <a:ext cx="70458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 lang="ko-KR"/>
              </a:pPr>
              <a:r>
                <a:rPr lang="ko-KR" altLang="en-US" dirty="0">
                  <a:latin typeface="+mj-ea"/>
                  <a:ea typeface="+mj-ea"/>
                </a:rPr>
                <a:t>연구 과정</a:t>
              </a:r>
            </a:p>
          </p:txBody>
        </p:sp>
        <p:sp>
          <p:nvSpPr>
            <p:cNvPr id="116" name="TextBox 29"/>
            <p:cNvSpPr txBox="1"/>
            <p:nvPr/>
          </p:nvSpPr>
          <p:spPr>
            <a:xfrm>
              <a:off x="1607347" y="1541893"/>
              <a:ext cx="1132492" cy="68480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  <a:defRPr lang="ko-KR"/>
              </a:pPr>
              <a:r>
                <a:rPr lang="en-US" altLang="ko-KR" sz="2800" b="0" spc="-150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01</a:t>
              </a:r>
              <a:endParaRPr lang="ko-KR" altLang="en-US" sz="1100" b="0" spc="-150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</p:grpSp>
      <p:grpSp>
        <p:nvGrpSpPr>
          <p:cNvPr id="118" name="그룹 34"/>
          <p:cNvGrpSpPr/>
          <p:nvPr/>
        </p:nvGrpSpPr>
        <p:grpSpPr>
          <a:xfrm>
            <a:off x="1589579" y="2480617"/>
            <a:ext cx="8834044" cy="769442"/>
            <a:chOff x="1589579" y="1529810"/>
            <a:chExt cx="8834044" cy="769442"/>
          </a:xfrm>
        </p:grpSpPr>
        <p:sp>
          <p:nvSpPr>
            <p:cNvPr id="119" name="사각형: 둥근 모서리 35"/>
            <p:cNvSpPr/>
            <p:nvPr/>
          </p:nvSpPr>
          <p:spPr>
            <a:xfrm>
              <a:off x="1757295" y="1529810"/>
              <a:ext cx="8666328" cy="76944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20" name="타원 36"/>
            <p:cNvSpPr/>
            <p:nvPr/>
          </p:nvSpPr>
          <p:spPr>
            <a:xfrm>
              <a:off x="1834631" y="1590531"/>
              <a:ext cx="648000" cy="648000"/>
            </a:xfrm>
            <a:prstGeom prst="ellipse">
              <a:avLst/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21" name="텍스트 개체 틀 6"/>
            <p:cNvSpPr txBox="1"/>
            <p:nvPr/>
          </p:nvSpPr>
          <p:spPr>
            <a:xfrm>
              <a:off x="2695873" y="1746328"/>
              <a:ext cx="76484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lang="ko-KR"/>
              </a:pPr>
              <a:r>
                <a:rPr lang="ko-KR" altLang="en-US" dirty="0">
                  <a:latin typeface="+mj-ea"/>
                  <a:ea typeface="+mj-ea"/>
                </a:rPr>
                <a:t>연구 과정</a:t>
              </a:r>
            </a:p>
          </p:txBody>
        </p:sp>
        <p:sp>
          <p:nvSpPr>
            <p:cNvPr id="122" name="TextBox 38"/>
            <p:cNvSpPr txBox="1"/>
            <p:nvPr/>
          </p:nvSpPr>
          <p:spPr>
            <a:xfrm>
              <a:off x="1589579" y="1530954"/>
              <a:ext cx="1132492" cy="68480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  <a:defRPr lang="ko-KR"/>
              </a:pPr>
              <a:r>
                <a:rPr lang="en-US" altLang="ko-KR" sz="2800" b="0" spc="-150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02</a:t>
              </a:r>
              <a:endParaRPr lang="ko-KR" altLang="en-US" sz="1100" b="0" spc="-150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</p:grpSp>
      <p:grpSp>
        <p:nvGrpSpPr>
          <p:cNvPr id="123" name="그룹 40"/>
          <p:cNvGrpSpPr/>
          <p:nvPr/>
        </p:nvGrpSpPr>
        <p:grpSpPr>
          <a:xfrm>
            <a:off x="1593703" y="3691436"/>
            <a:ext cx="8829920" cy="769712"/>
            <a:chOff x="1593703" y="1529540"/>
            <a:chExt cx="8829920" cy="769712"/>
          </a:xfrm>
        </p:grpSpPr>
        <p:sp>
          <p:nvSpPr>
            <p:cNvPr id="124" name="사각형: 둥근 모서리 41"/>
            <p:cNvSpPr/>
            <p:nvPr/>
          </p:nvSpPr>
          <p:spPr>
            <a:xfrm>
              <a:off x="1757295" y="1529810"/>
              <a:ext cx="8666328" cy="76944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25" name="타원 42"/>
            <p:cNvSpPr/>
            <p:nvPr/>
          </p:nvSpPr>
          <p:spPr>
            <a:xfrm>
              <a:off x="1834631" y="1590531"/>
              <a:ext cx="648000" cy="648000"/>
            </a:xfrm>
            <a:prstGeom prst="ellipse">
              <a:avLst/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26" name="텍스트 개체 틀 6"/>
            <p:cNvSpPr txBox="1"/>
            <p:nvPr/>
          </p:nvSpPr>
          <p:spPr>
            <a:xfrm>
              <a:off x="2695878" y="1746328"/>
              <a:ext cx="70458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lang="ko-KR"/>
              </a:pPr>
              <a:r>
                <a:rPr lang="ko-KR" altLang="en-US" dirty="0">
                  <a:latin typeface="+mj-ea"/>
                  <a:ea typeface="+mj-ea"/>
                </a:rPr>
                <a:t>연구 과정</a:t>
              </a:r>
            </a:p>
          </p:txBody>
        </p:sp>
        <p:sp>
          <p:nvSpPr>
            <p:cNvPr id="127" name="TextBox 44"/>
            <p:cNvSpPr txBox="1"/>
            <p:nvPr/>
          </p:nvSpPr>
          <p:spPr>
            <a:xfrm>
              <a:off x="1593703" y="1529540"/>
              <a:ext cx="1132492" cy="68480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  <a:defRPr lang="ko-KR"/>
              </a:pPr>
              <a:r>
                <a:rPr lang="en-US" altLang="ko-KR" sz="2800" b="0" spc="-150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03</a:t>
              </a:r>
              <a:endParaRPr lang="ko-KR" altLang="en-US" sz="1100" b="0" spc="-150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</p:grpSp>
      <p:grpSp>
        <p:nvGrpSpPr>
          <p:cNvPr id="128" name="그룹 40"/>
          <p:cNvGrpSpPr/>
          <p:nvPr/>
        </p:nvGrpSpPr>
        <p:grpSpPr>
          <a:xfrm>
            <a:off x="1600077" y="4920161"/>
            <a:ext cx="8839445" cy="769712"/>
            <a:chOff x="1584178" y="1529540"/>
            <a:chExt cx="8839445" cy="769712"/>
          </a:xfrm>
        </p:grpSpPr>
        <p:sp>
          <p:nvSpPr>
            <p:cNvPr id="129" name="사각형: 둥근 모서리 41"/>
            <p:cNvSpPr/>
            <p:nvPr/>
          </p:nvSpPr>
          <p:spPr>
            <a:xfrm>
              <a:off x="1757295" y="1529810"/>
              <a:ext cx="8666328" cy="76944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30" name="타원 42"/>
            <p:cNvSpPr/>
            <p:nvPr/>
          </p:nvSpPr>
          <p:spPr>
            <a:xfrm>
              <a:off x="1834631" y="1590531"/>
              <a:ext cx="648000" cy="648000"/>
            </a:xfrm>
            <a:prstGeom prst="ellipse">
              <a:avLst/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  <p:sp>
          <p:nvSpPr>
            <p:cNvPr id="131" name="텍스트 개체 틀 6"/>
            <p:cNvSpPr txBox="1"/>
            <p:nvPr/>
          </p:nvSpPr>
          <p:spPr>
            <a:xfrm>
              <a:off x="2695877" y="1765377"/>
              <a:ext cx="70458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lang="ko-KR"/>
              </a:pPr>
              <a:r>
                <a:rPr lang="ko-KR" altLang="en-US" dirty="0">
                  <a:latin typeface="+mj-ea"/>
                  <a:ea typeface="+mj-ea"/>
                </a:rPr>
                <a:t>연구 과정</a:t>
              </a:r>
            </a:p>
          </p:txBody>
        </p:sp>
        <p:sp>
          <p:nvSpPr>
            <p:cNvPr id="132" name="TextBox 44"/>
            <p:cNvSpPr txBox="1"/>
            <p:nvPr/>
          </p:nvSpPr>
          <p:spPr>
            <a:xfrm>
              <a:off x="1584178" y="1529540"/>
              <a:ext cx="1132492" cy="68480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50000"/>
                </a:lnSpc>
                <a:defRPr lang="ko-KR"/>
              </a:pPr>
              <a:r>
                <a:rPr lang="en-US" altLang="ko-KR" sz="2800" b="0" spc="-150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04</a:t>
              </a:r>
            </a:p>
          </p:txBody>
        </p:sp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13001A4D-1253-7337-16D8-15C3CD28C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t="13412" r="31664" b="74496"/>
          <a:stretch>
            <a:fillRect/>
          </a:stretch>
        </p:blipFill>
        <p:spPr bwMode="auto">
          <a:xfrm>
            <a:off x="10067925" y="6215063"/>
            <a:ext cx="199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714510" y="3107052"/>
            <a:ext cx="6318345" cy="1024896"/>
            <a:chOff x="4208478" y="2984679"/>
            <a:chExt cx="6488659" cy="1024896"/>
          </a:xfrm>
        </p:grpSpPr>
        <p:sp>
          <p:nvSpPr>
            <p:cNvPr id="6" name="TextBox 5"/>
            <p:cNvSpPr txBox="1"/>
            <p:nvPr/>
          </p:nvSpPr>
          <p:spPr>
            <a:xfrm>
              <a:off x="5925546" y="3038905"/>
              <a:ext cx="4771591" cy="364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1400">
                  <a:solidFill>
                    <a:srgbClr val="181818"/>
                  </a:solidFill>
                  <a:latin typeface="KoPubWorld돋움체 Light"/>
                  <a:ea typeface="KoPubWorld돋움체 Light"/>
                  <a:cs typeface="KoPubWorld돋움체 Light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9pPr>
            </a:lstStyle>
            <a:p>
              <a:pPr marL="0" lvl="0" algn="l" defTabSz="900000" eaLnBrk="1" latinLnBrk="1" hangingPunct="1">
                <a:lnSpc>
                  <a:spcPct val="130000"/>
                </a:lnSpc>
                <a:defRPr lang="ko-KR"/>
              </a:pPr>
              <a:r>
                <a:rPr lang="ko-KR" altLang="en-US" dirty="0">
                  <a:latin typeface="KoPubWorld돋움체_Pro Light" panose="00000300000000000000" pitchFamily="50" charset="-127"/>
                  <a:ea typeface="KoPubWorld돋움체_Pro Light" panose="00000300000000000000" pitchFamily="50" charset="-127"/>
                  <a:cs typeface="KoPubWorld돋움체_Pro Light" panose="00000300000000000000" pitchFamily="50" charset="-127"/>
                </a:rPr>
                <a:t>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08478" y="3142095"/>
              <a:ext cx="887514" cy="5447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/>
                  <a:ea typeface="KoPubWorld돋움체 Bold"/>
                  <a:cs typeface="KoPubWorld돋움체 Bold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</a:lvl9pPr>
            </a:lstStyle>
            <a:p>
              <a:pPr lvl="0">
                <a:defRPr lang="ko-KR"/>
              </a:pPr>
              <a:r>
                <a:rPr lang="ko-KR" altLang="en-US" b="1" dirty="0"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Bold" panose="00000800000000000000" pitchFamily="50" charset="-127"/>
                </a:rPr>
                <a:t>연구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5462432" y="2984679"/>
              <a:ext cx="0" cy="102489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  <a:alpha val="8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직사각형 12"/>
          <p:cNvSpPr/>
          <p:nvPr/>
        </p:nvSpPr>
        <p:spPr>
          <a:xfrm>
            <a:off x="10142049" y="124104"/>
            <a:ext cx="1923143" cy="598714"/>
          </a:xfrm>
          <a:prstGeom prst="rect">
            <a:avLst/>
          </a:prstGeom>
          <a:solidFill>
            <a:schemeClr val="lt1"/>
          </a:solidFill>
          <a:ln/>
          <a:effectLst>
            <a:softEdge rad="381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/>
            </a:pPr>
            <a:endParaRPr lang="ko-KR"/>
          </a:p>
        </p:txBody>
      </p:sp>
      <p:sp>
        <p:nvSpPr>
          <p:cNvPr id="17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34074" y="282975"/>
            <a:ext cx="1480437" cy="377026"/>
          </a:xfrm>
        </p:spPr>
        <p:txBody>
          <a:bodyPr wrap="square" anchor="ctr">
            <a:spAutoFit/>
          </a:bodyPr>
          <a:lstStyle/>
          <a:p>
            <a:pPr lvl="0">
              <a:defRPr lang="ko-KR"/>
            </a:pPr>
            <a:r>
              <a:rPr lang="ko-KR" altLang="en-US" sz="2000" dirty="0"/>
              <a:t>2.  연구</a:t>
            </a:r>
          </a:p>
        </p:txBody>
      </p:sp>
      <p:sp>
        <p:nvSpPr>
          <p:cNvPr id="18" name="텍스트 개체 틀 1"/>
          <p:cNvSpPr>
            <a:spLocks noGrp="1"/>
          </p:cNvSpPr>
          <p:nvPr/>
        </p:nvSpPr>
        <p:spPr>
          <a:xfrm>
            <a:off x="9185067" y="282869"/>
            <a:ext cx="2658530" cy="320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algn="l" defTabSz="858145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ko-KR"/>
            </a:pPr>
            <a:r>
              <a:rPr lang="ko-KR" altLang="en-US" sz="1600" b="0" i="0" u="none" kern="1200" spc="-15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2.1. </a:t>
            </a:r>
            <a:r>
              <a:rPr lang="ko-KR" altLang="en-US" sz="1600" b="0" i="0" u="none" kern="1200" spc="-150" dirty="0" err="1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연구흐름</a:t>
            </a:r>
            <a:r>
              <a:rPr lang="ko-KR" altLang="en-US" sz="1600" b="0" i="0" u="none" kern="1200" spc="-150" dirty="0">
                <a:solidFill>
                  <a:srgbClr val="181818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rPr>
              <a:t> 및 연구 접근방식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A64CDBF5-F18A-3506-A88D-B578083A7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t="13412" r="31664" b="74496"/>
          <a:stretch>
            <a:fillRect/>
          </a:stretch>
        </p:blipFill>
        <p:spPr bwMode="auto">
          <a:xfrm>
            <a:off x="10067925" y="6215063"/>
            <a:ext cx="199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10274" y="430530"/>
            <a:ext cx="5183908" cy="339090"/>
          </a:xfrm>
        </p:spPr>
        <p:txBody>
          <a:bodyPr/>
          <a:lstStyle/>
          <a:p>
            <a:pPr lvl="0">
              <a:defRPr lang="ko-KR"/>
            </a:pPr>
            <a:r>
              <a:rPr lang="ko-KR" altLang="en-US"/>
              <a:t>연구결론</a:t>
            </a:r>
          </a:p>
        </p:txBody>
      </p:sp>
      <p:sp>
        <p:nvSpPr>
          <p:cNvPr id="8" name="사각형: 둥근 모서리 7"/>
          <p:cNvSpPr/>
          <p:nvPr/>
        </p:nvSpPr>
        <p:spPr>
          <a:xfrm>
            <a:off x="1143204" y="4706149"/>
            <a:ext cx="9905592" cy="120067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/>
            </a:pPr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10" name="텍스트 개체 틀 6"/>
          <p:cNvSpPr txBox="1"/>
          <p:nvPr/>
        </p:nvSpPr>
        <p:spPr>
          <a:xfrm>
            <a:off x="2699395" y="4852368"/>
            <a:ext cx="7858585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7037">
              <a:buFont typeface="+mj-ea"/>
              <a:buAutoNum type="circleNumDbPlain"/>
              <a:defRPr lang="ko-KR"/>
            </a:pPr>
            <a:r>
              <a:rPr lang="ko-KR" altLang="en-US" sz="1400" dirty="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Medium" panose="00000600000000000000" pitchFamily="50" charset="-127"/>
              </a:rPr>
              <a:t>  </a:t>
            </a:r>
          </a:p>
          <a:p>
            <a:pPr marL="427037">
              <a:buFont typeface="+mj-ea"/>
              <a:buAutoNum type="circleNumDbPlain"/>
              <a:defRPr lang="ko-KR"/>
            </a:pPr>
            <a:r>
              <a:rPr lang="ko-KR" altLang="en-US" sz="1400" dirty="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Medium" panose="00000600000000000000" pitchFamily="50" charset="-127"/>
              </a:rPr>
              <a:t>         </a:t>
            </a:r>
          </a:p>
          <a:p>
            <a:pPr marL="427037" indent="0">
              <a:buFont typeface="+mj-ea"/>
              <a:buNone/>
              <a:defRPr lang="ko-KR"/>
            </a:pPr>
            <a:r>
              <a:rPr lang="ko-KR" altLang="en-US" sz="1400" dirty="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Medium" panose="00000600000000000000" pitchFamily="50" charset="-127"/>
              </a:rPr>
              <a:t>③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1263039" y="4774388"/>
            <a:ext cx="1485838" cy="1050592"/>
            <a:chOff x="1701421" y="1501253"/>
            <a:chExt cx="1351128" cy="955343"/>
          </a:xfrm>
        </p:grpSpPr>
        <p:sp>
          <p:nvSpPr>
            <p:cNvPr id="12" name="사각형: 둥근 모서리 11"/>
            <p:cNvSpPr/>
            <p:nvPr/>
          </p:nvSpPr>
          <p:spPr>
            <a:xfrm>
              <a:off x="1701421" y="1501253"/>
              <a:ext cx="1351128" cy="955343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00286F">
                    <a:alpha val="66000"/>
                  </a:srgbClr>
                </a:gs>
                <a:gs pos="100000">
                  <a:srgbClr val="00286F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en-US" altLang="ko-KR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29846" y="1727795"/>
              <a:ext cx="977123" cy="4953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/>
                  <a:ea typeface="KoPubWorld돋움체 Bold"/>
                  <a:cs typeface="KoPubWorld돋움체 Bold"/>
                </a:defRPr>
              </a:lvl1pPr>
            </a:lstStyle>
            <a:p>
              <a:pPr algn="ctr">
                <a:defRPr lang="ko-KR"/>
              </a:pPr>
              <a:r>
                <a:rPr lang="ko-KR" altLang="en-US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결론</a:t>
              </a:r>
              <a:endParaRPr lang="ko-KR" altLang="en-US" sz="2000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  <a:cs typeface="KoPubWorld돋움체_Pro Bold" panose="00000800000000000000" pitchFamily="50" charset="-127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780711" y="1616479"/>
            <a:ext cx="8616176" cy="952113"/>
            <a:chOff x="1287092" y="1513240"/>
            <a:chExt cx="8616176" cy="952113"/>
          </a:xfrm>
        </p:grpSpPr>
        <p:grpSp>
          <p:nvGrpSpPr>
            <p:cNvPr id="47" name="그룹 46"/>
            <p:cNvGrpSpPr/>
            <p:nvPr/>
          </p:nvGrpSpPr>
          <p:grpSpPr>
            <a:xfrm>
              <a:off x="1287092" y="1662849"/>
              <a:ext cx="8616176" cy="802504"/>
              <a:chOff x="1851657" y="4712049"/>
              <a:chExt cx="8616176" cy="802504"/>
            </a:xfrm>
          </p:grpSpPr>
          <p:sp>
            <p:nvSpPr>
              <p:cNvPr id="48" name="직사각형 47"/>
              <p:cNvSpPr/>
              <p:nvPr/>
            </p:nvSpPr>
            <p:spPr>
              <a:xfrm>
                <a:off x="1869743" y="4712049"/>
                <a:ext cx="8598090" cy="51016"/>
              </a:xfrm>
              <a:prstGeom prst="rect">
                <a:avLst/>
              </a:prstGeom>
              <a:solidFill>
                <a:srgbClr val="0028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lang="ko-KR"/>
                </a:pPr>
                <a:endParaRPr lang="ko-KR" altLang="en-US" dirty="0">
                  <a:latin typeface="KoPubWorld돋움체_Pro Light" panose="00000300000000000000" pitchFamily="50" charset="-127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 flipV="1">
                <a:off x="1851657" y="4732172"/>
                <a:ext cx="8598090" cy="78238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0360AE">
                      <a:alpha val="8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 lang="ko-KR"/>
                </a:pPr>
                <a:endParaRPr lang="ko-KR" altLang="en-US" dirty="0">
                  <a:latin typeface="KoPubWorld돋움체_Pro Light" panose="00000300000000000000" pitchFamily="50" charset="-127"/>
                </a:endParaRPr>
              </a:p>
            </p:txBody>
          </p:sp>
        </p:grpSp>
        <p:sp>
          <p:nvSpPr>
            <p:cNvPr id="44" name="사각형: 둥근 모서리 43"/>
            <p:cNvSpPr/>
            <p:nvPr/>
          </p:nvSpPr>
          <p:spPr>
            <a:xfrm>
              <a:off x="1916967" y="1558593"/>
              <a:ext cx="2556000" cy="360000"/>
            </a:xfrm>
            <a:prstGeom prst="roundRect">
              <a:avLst>
                <a:gd name="adj" fmla="val 50000"/>
              </a:avLst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11358" y="1513240"/>
              <a:ext cx="2184343" cy="439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>
                  <a:solidFill>
                    <a:srgbClr val="181818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defRPr lang="ko-KR"/>
              </a:pPr>
              <a:r>
                <a:rPr lang="ko-KR" altLang="en-US" dirty="0">
                  <a:solidFill>
                    <a:schemeClr val="bg1"/>
                  </a:solidFill>
                  <a:latin typeface="KoPubWorld돋움체_Pro Medium" panose="00000600000000000000" pitchFamily="50" charset="-127"/>
                  <a:ea typeface="KoPubWorld돋움체_Pro Medium" panose="00000600000000000000" pitchFamily="50" charset="-127"/>
                  <a:cs typeface="KoPubWorld돋움체_Pro Medium" panose="00000600000000000000" pitchFamily="50" charset="-127"/>
                </a:rPr>
                <a:t>연구결론</a:t>
              </a:r>
            </a:p>
          </p:txBody>
        </p:sp>
      </p:grpSp>
      <p:sp>
        <p:nvSpPr>
          <p:cNvPr id="50" name="텍스트 개체 틀 6"/>
          <p:cNvSpPr txBox="1"/>
          <p:nvPr/>
        </p:nvSpPr>
        <p:spPr>
          <a:xfrm>
            <a:off x="1786268" y="2102002"/>
            <a:ext cx="8646023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181818"/>
                </a:solidFill>
                <a:latin typeface="KoPubWorld돋움체 Light"/>
                <a:ea typeface="KoPubWorld돋움체 Light"/>
                <a:cs typeface="KoPubWorld돋움체 Light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4137">
              <a:spcBef>
                <a:spcPts val="1200"/>
              </a:spcBef>
              <a:buFont typeface="+mj-ea"/>
              <a:buNone/>
              <a:defRPr lang="ko-KR"/>
            </a:pPr>
            <a:r>
              <a:rPr lang="ko-KR" altLang="en-US" dirty="0">
                <a:latin typeface="KoPubWorld돋움체_Pro Light" panose="00000300000000000000" pitchFamily="50" charset="-127"/>
                <a:ea typeface="KoPubWorld돋움체_Pro Light" panose="00000300000000000000" pitchFamily="50" charset="-127"/>
                <a:cs typeface="KoPubWorld돋움체_Pro Light" panose="00000300000000000000" pitchFamily="50" charset="-127"/>
              </a:rPr>
              <a:t>연구결론</a:t>
            </a:r>
            <a:endParaRPr lang="ko-KR" altLang="en-US" sz="1000" dirty="0">
              <a:latin typeface="KoPubWorld돋움체_Pro Light" panose="00000300000000000000" pitchFamily="50" charset="-127"/>
              <a:ea typeface="KoPubWorld돋움체_Pro Light" panose="00000300000000000000" pitchFamily="50" charset="-127"/>
              <a:cs typeface="KoPubWorld돋움체_Pro Light" panose="00000300000000000000" pitchFamily="50" charset="-127"/>
            </a:endParaRPr>
          </a:p>
        </p:txBody>
      </p:sp>
      <p:sp>
        <p:nvSpPr>
          <p:cNvPr id="51" name="화살표: 아래쪽 2"/>
          <p:cNvSpPr/>
          <p:nvPr/>
        </p:nvSpPr>
        <p:spPr>
          <a:xfrm>
            <a:off x="4123035" y="3817853"/>
            <a:ext cx="4174529" cy="621596"/>
          </a:xfrm>
          <a:custGeom>
            <a:avLst/>
            <a:gdLst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4651014 w 5623517"/>
              <a:gd name="connsiteY3" fmla="*/ 0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4651014 w 5623517"/>
              <a:gd name="connsiteY3" fmla="*/ 0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4651014 w 5623517"/>
              <a:gd name="connsiteY3" fmla="*/ 0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4651014 w 5623517"/>
              <a:gd name="connsiteY3" fmla="*/ 0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4651014 w 5623517"/>
              <a:gd name="connsiteY3" fmla="*/ 0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4651014 w 5623517"/>
              <a:gd name="connsiteY3" fmla="*/ 0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0 w 5623517"/>
              <a:gd name="connsiteY0" fmla="*/ 1434603 h 2869206"/>
              <a:gd name="connsiteX1" fmla="*/ 972503 w 5623517"/>
              <a:gd name="connsiteY1" fmla="*/ 1434603 h 2869206"/>
              <a:gd name="connsiteX2" fmla="*/ 972503 w 5623517"/>
              <a:gd name="connsiteY2" fmla="*/ 0 h 2869206"/>
              <a:gd name="connsiteX3" fmla="*/ 5613039 w 5623517"/>
              <a:gd name="connsiteY3" fmla="*/ 4762 h 2869206"/>
              <a:gd name="connsiteX4" fmla="*/ 4651014 w 5623517"/>
              <a:gd name="connsiteY4" fmla="*/ 1434603 h 2869206"/>
              <a:gd name="connsiteX5" fmla="*/ 5623517 w 5623517"/>
              <a:gd name="connsiteY5" fmla="*/ 1434603 h 2869206"/>
              <a:gd name="connsiteX6" fmla="*/ 2811759 w 5623517"/>
              <a:gd name="connsiteY6" fmla="*/ 2869206 h 2869206"/>
              <a:gd name="connsiteX7" fmla="*/ 0 w 5623517"/>
              <a:gd name="connsiteY7" fmla="*/ 1434603 h 2869206"/>
              <a:gd name="connsiteX0" fmla="*/ 37147 w 5660664"/>
              <a:gd name="connsiteY0" fmla="*/ 1429841 h 2864444"/>
              <a:gd name="connsiteX1" fmla="*/ 1009650 w 5660664"/>
              <a:gd name="connsiteY1" fmla="*/ 1429841 h 2864444"/>
              <a:gd name="connsiteX2" fmla="*/ 0 w 5660664"/>
              <a:gd name="connsiteY2" fmla="*/ 1 h 2864444"/>
              <a:gd name="connsiteX3" fmla="*/ 5650186 w 5660664"/>
              <a:gd name="connsiteY3" fmla="*/ 0 h 2864444"/>
              <a:gd name="connsiteX4" fmla="*/ 4688161 w 5660664"/>
              <a:gd name="connsiteY4" fmla="*/ 1429841 h 2864444"/>
              <a:gd name="connsiteX5" fmla="*/ 5660664 w 5660664"/>
              <a:gd name="connsiteY5" fmla="*/ 1429841 h 2864444"/>
              <a:gd name="connsiteX6" fmla="*/ 2848906 w 5660664"/>
              <a:gd name="connsiteY6" fmla="*/ 2864444 h 2864444"/>
              <a:gd name="connsiteX7" fmla="*/ 37147 w 5660664"/>
              <a:gd name="connsiteY7" fmla="*/ 1429841 h 2864444"/>
              <a:gd name="connsiteX0" fmla="*/ 37147 w 5660664"/>
              <a:gd name="connsiteY0" fmla="*/ 1429841 h 2864444"/>
              <a:gd name="connsiteX1" fmla="*/ 1009650 w 5660664"/>
              <a:gd name="connsiteY1" fmla="*/ 1429841 h 2864444"/>
              <a:gd name="connsiteX2" fmla="*/ 0 w 5660664"/>
              <a:gd name="connsiteY2" fmla="*/ 1 h 2864444"/>
              <a:gd name="connsiteX3" fmla="*/ 5650186 w 5660664"/>
              <a:gd name="connsiteY3" fmla="*/ 0 h 2864444"/>
              <a:gd name="connsiteX4" fmla="*/ 4688161 w 5660664"/>
              <a:gd name="connsiteY4" fmla="*/ 1429841 h 2864444"/>
              <a:gd name="connsiteX5" fmla="*/ 5660664 w 5660664"/>
              <a:gd name="connsiteY5" fmla="*/ 1429841 h 2864444"/>
              <a:gd name="connsiteX6" fmla="*/ 2848906 w 5660664"/>
              <a:gd name="connsiteY6" fmla="*/ 2864444 h 2864444"/>
              <a:gd name="connsiteX7" fmla="*/ 37147 w 5660664"/>
              <a:gd name="connsiteY7" fmla="*/ 1429841 h 2864444"/>
              <a:gd name="connsiteX0" fmla="*/ 37147 w 5660664"/>
              <a:gd name="connsiteY0" fmla="*/ 1429841 h 2864444"/>
              <a:gd name="connsiteX1" fmla="*/ 1009650 w 5660664"/>
              <a:gd name="connsiteY1" fmla="*/ 1429841 h 2864444"/>
              <a:gd name="connsiteX2" fmla="*/ 0 w 5660664"/>
              <a:gd name="connsiteY2" fmla="*/ 1 h 2864444"/>
              <a:gd name="connsiteX3" fmla="*/ 5650186 w 5660664"/>
              <a:gd name="connsiteY3" fmla="*/ 0 h 2864444"/>
              <a:gd name="connsiteX4" fmla="*/ 4688161 w 5660664"/>
              <a:gd name="connsiteY4" fmla="*/ 1429841 h 2864444"/>
              <a:gd name="connsiteX5" fmla="*/ 5660664 w 5660664"/>
              <a:gd name="connsiteY5" fmla="*/ 1429841 h 2864444"/>
              <a:gd name="connsiteX6" fmla="*/ 2848906 w 5660664"/>
              <a:gd name="connsiteY6" fmla="*/ 2864444 h 2864444"/>
              <a:gd name="connsiteX7" fmla="*/ 37147 w 5660664"/>
              <a:gd name="connsiteY7" fmla="*/ 1429841 h 2864444"/>
              <a:gd name="connsiteX0" fmla="*/ 37147 w 5660664"/>
              <a:gd name="connsiteY0" fmla="*/ 1429841 h 2864444"/>
              <a:gd name="connsiteX1" fmla="*/ 1009650 w 5660664"/>
              <a:gd name="connsiteY1" fmla="*/ 1429841 h 2864444"/>
              <a:gd name="connsiteX2" fmla="*/ 0 w 5660664"/>
              <a:gd name="connsiteY2" fmla="*/ 1 h 2864444"/>
              <a:gd name="connsiteX3" fmla="*/ 5650186 w 5660664"/>
              <a:gd name="connsiteY3" fmla="*/ 0 h 2864444"/>
              <a:gd name="connsiteX4" fmla="*/ 4688161 w 5660664"/>
              <a:gd name="connsiteY4" fmla="*/ 1429841 h 2864444"/>
              <a:gd name="connsiteX5" fmla="*/ 5660664 w 5660664"/>
              <a:gd name="connsiteY5" fmla="*/ 1429841 h 2864444"/>
              <a:gd name="connsiteX6" fmla="*/ 2848906 w 5660664"/>
              <a:gd name="connsiteY6" fmla="*/ 2864444 h 2864444"/>
              <a:gd name="connsiteX7" fmla="*/ 37147 w 5660664"/>
              <a:gd name="connsiteY7" fmla="*/ 1429841 h 2864444"/>
              <a:gd name="connsiteX0" fmla="*/ 37147 w 5660664"/>
              <a:gd name="connsiteY0" fmla="*/ 1429841 h 2864444"/>
              <a:gd name="connsiteX1" fmla="*/ 1009650 w 5660664"/>
              <a:gd name="connsiteY1" fmla="*/ 1429841 h 2864444"/>
              <a:gd name="connsiteX2" fmla="*/ 0 w 5660664"/>
              <a:gd name="connsiteY2" fmla="*/ 1 h 2864444"/>
              <a:gd name="connsiteX3" fmla="*/ 5650186 w 5660664"/>
              <a:gd name="connsiteY3" fmla="*/ 0 h 2864444"/>
              <a:gd name="connsiteX4" fmla="*/ 4688161 w 5660664"/>
              <a:gd name="connsiteY4" fmla="*/ 1429841 h 2864444"/>
              <a:gd name="connsiteX5" fmla="*/ 5660664 w 5660664"/>
              <a:gd name="connsiteY5" fmla="*/ 1429841 h 2864444"/>
              <a:gd name="connsiteX6" fmla="*/ 2848906 w 5660664"/>
              <a:gd name="connsiteY6" fmla="*/ 2864444 h 2864444"/>
              <a:gd name="connsiteX7" fmla="*/ 37147 w 5660664"/>
              <a:gd name="connsiteY7" fmla="*/ 1429841 h 2864444"/>
              <a:gd name="connsiteX0" fmla="*/ 37147 w 5660664"/>
              <a:gd name="connsiteY0" fmla="*/ 1429841 h 2864444"/>
              <a:gd name="connsiteX1" fmla="*/ 1009650 w 5660664"/>
              <a:gd name="connsiteY1" fmla="*/ 1429841 h 2864444"/>
              <a:gd name="connsiteX2" fmla="*/ 0 w 5660664"/>
              <a:gd name="connsiteY2" fmla="*/ 1 h 2864444"/>
              <a:gd name="connsiteX3" fmla="*/ 5650186 w 5660664"/>
              <a:gd name="connsiteY3" fmla="*/ 0 h 2864444"/>
              <a:gd name="connsiteX4" fmla="*/ 4688161 w 5660664"/>
              <a:gd name="connsiteY4" fmla="*/ 1429841 h 2864444"/>
              <a:gd name="connsiteX5" fmla="*/ 5660664 w 5660664"/>
              <a:gd name="connsiteY5" fmla="*/ 1429841 h 2864444"/>
              <a:gd name="connsiteX6" fmla="*/ 2848906 w 5660664"/>
              <a:gd name="connsiteY6" fmla="*/ 2864444 h 2864444"/>
              <a:gd name="connsiteX7" fmla="*/ 37147 w 5660664"/>
              <a:gd name="connsiteY7" fmla="*/ 1429841 h 2864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0664" h="2864444">
                <a:moveTo>
                  <a:pt x="37147" y="1429841"/>
                </a:moveTo>
                <a:lnTo>
                  <a:pt x="1009650" y="1429841"/>
                </a:lnTo>
                <a:cubicBezTo>
                  <a:pt x="830262" y="772253"/>
                  <a:pt x="412750" y="362314"/>
                  <a:pt x="0" y="1"/>
                </a:cubicBezTo>
                <a:lnTo>
                  <a:pt x="5650186" y="0"/>
                </a:lnTo>
                <a:cubicBezTo>
                  <a:pt x="5177111" y="428989"/>
                  <a:pt x="4885011" y="829402"/>
                  <a:pt x="4688161" y="1429841"/>
                </a:cubicBezTo>
                <a:lnTo>
                  <a:pt x="5660664" y="1429841"/>
                </a:lnTo>
                <a:cubicBezTo>
                  <a:pt x="5180611" y="1593717"/>
                  <a:pt x="4443384" y="1690918"/>
                  <a:pt x="2848906" y="2864444"/>
                </a:cubicBezTo>
                <a:cubicBezTo>
                  <a:pt x="1302053" y="1743305"/>
                  <a:pt x="469575" y="1507993"/>
                  <a:pt x="37147" y="1429841"/>
                </a:cubicBezTo>
                <a:close/>
              </a:path>
            </a:pathLst>
          </a:custGeom>
          <a:gradFill flip="none" rotWithShape="1">
            <a:gsLst>
              <a:gs pos="44260">
                <a:srgbClr val="E7E7E7">
                  <a:alpha val="24000"/>
                </a:srgbClr>
              </a:gs>
              <a:gs pos="100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/>
            </a:pPr>
            <a:endParaRPr lang="ko-KR" altLang="en-US" dirty="0">
              <a:latin typeface="KoPubWorld돋움체_Pro Light" panose="00000300000000000000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0142049" y="124104"/>
            <a:ext cx="1923143" cy="598714"/>
          </a:xfrm>
          <a:prstGeom prst="rect">
            <a:avLst/>
          </a:prstGeom>
          <a:solidFill>
            <a:schemeClr val="lt1"/>
          </a:solidFill>
          <a:ln/>
          <a:effectLst>
            <a:softEdge rad="381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/>
            </a:pPr>
            <a:endParaRPr lang="ko-KR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C3B42E3-7770-525D-E896-0C237B1D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t="13412" r="31664" b="74496"/>
          <a:stretch>
            <a:fillRect/>
          </a:stretch>
        </p:blipFill>
        <p:spPr bwMode="auto">
          <a:xfrm>
            <a:off x="10067925" y="6215063"/>
            <a:ext cx="199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10274" y="430530"/>
            <a:ext cx="5183908" cy="339090"/>
          </a:xfrm>
        </p:spPr>
        <p:txBody>
          <a:bodyPr/>
          <a:lstStyle/>
          <a:p>
            <a:pPr lvl="0">
              <a:defRPr lang="ko-KR"/>
            </a:pPr>
            <a:r>
              <a:rPr lang="ko-KR" altLang="en-US"/>
              <a:t>참고논문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686" y="1712683"/>
            <a:ext cx="3816626" cy="40011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 lang="ko-KR"/>
            </a:pPr>
            <a:r>
              <a:rPr lang="ko-KR" altLang="en-US" sz="2000" b="0" spc="0" dirty="0">
                <a:solidFill>
                  <a:schemeClr val="bg1"/>
                </a:solidFill>
                <a:latin typeface="KoPubWorld돋움체_Pro Bold" panose="00000800000000000000" pitchFamily="50" charset="-127"/>
                <a:ea typeface="KoPubWorld돋움체_Pro Bold" panose="00000800000000000000" pitchFamily="50" charset="-127"/>
              </a:rPr>
              <a:t>영화를 활용한 집단상담 결론</a:t>
            </a:r>
          </a:p>
        </p:txBody>
      </p:sp>
      <p:sp>
        <p:nvSpPr>
          <p:cNvPr id="13" name="텍스트 개체 틀 6"/>
          <p:cNvSpPr txBox="1"/>
          <p:nvPr/>
        </p:nvSpPr>
        <p:spPr>
          <a:xfrm>
            <a:off x="2387712" y="2438447"/>
            <a:ext cx="7416575" cy="4305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>
                <a:solidFill>
                  <a:srgbClr val="181818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Font typeface="+mj-ea"/>
              <a:buNone/>
              <a:defRPr lang="ko-KR"/>
            </a:pPr>
            <a:r>
              <a:rPr lang="ko-KR" altLang="en-US" sz="1900" u="sng" dirty="0">
                <a:latin typeface="휴먼명조"/>
                <a:ea typeface="휴먼명조"/>
                <a:cs typeface="KoPubWorld돋움체_Pro Medium" panose="00000600000000000000" pitchFamily="50" charset="-127"/>
              </a:rPr>
              <a:t>참고 논문</a:t>
            </a:r>
            <a:endParaRPr lang="en-US" altLang="ko-KR" sz="1900" u="sng" dirty="0">
              <a:latin typeface="휴먼명조"/>
              <a:ea typeface="휴먼명조"/>
              <a:cs typeface="KoPubWorld돋움체_Pro Medium" panose="00000600000000000000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569596" y="1601990"/>
            <a:ext cx="7052807" cy="544765"/>
            <a:chOff x="2569596" y="1355518"/>
            <a:chExt cx="7052807" cy="544765"/>
          </a:xfrm>
        </p:grpSpPr>
        <p:sp>
          <p:nvSpPr>
            <p:cNvPr id="15" name="직사각형 14"/>
            <p:cNvSpPr/>
            <p:nvPr/>
          </p:nvSpPr>
          <p:spPr>
            <a:xfrm>
              <a:off x="2569596" y="1376692"/>
              <a:ext cx="7052807" cy="502417"/>
            </a:xfrm>
            <a:prstGeom prst="rect">
              <a:avLst/>
            </a:prstGeom>
            <a:gradFill flip="none" rotWithShape="1">
              <a:gsLst>
                <a:gs pos="75000">
                  <a:srgbClr val="00286F"/>
                </a:gs>
                <a:gs pos="50000">
                  <a:srgbClr val="00286F"/>
                </a:gs>
                <a:gs pos="26000">
                  <a:srgbClr val="00286F"/>
                </a:gs>
                <a:gs pos="1000">
                  <a:srgbClr val="00286F">
                    <a:alpha val="0"/>
                  </a:srgbClr>
                </a:gs>
                <a:gs pos="100000">
                  <a:srgbClr val="00286F">
                    <a:alpha val="0"/>
                  </a:srgbClr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endParaRPr lang="ko-KR" altLang="en-US" dirty="0">
                <a:latin typeface="KoPubWorld돋움체_Pro Light" panose="00000300000000000000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14287" y="1355518"/>
              <a:ext cx="3816626" cy="56232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 sz="2400">
                  <a:solidFill>
                    <a:srgbClr val="181818"/>
                  </a:solidFill>
                  <a:latin typeface="KoPubWorld돋움체 Bold"/>
                  <a:ea typeface="KoPubWorld돋움체 Bold"/>
                  <a:cs typeface="KoPubWorld돋움체 Bold"/>
                </a:defRPr>
              </a:lvl1pPr>
            </a:lstStyle>
            <a:p>
              <a:pPr algn="ctr">
                <a:defRPr lang="ko-KR"/>
              </a:pPr>
              <a:r>
                <a:rPr lang="ko-KR" altLang="en-US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참고논문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10142049" y="124104"/>
            <a:ext cx="1923143" cy="598714"/>
          </a:xfrm>
          <a:prstGeom prst="rect">
            <a:avLst/>
          </a:prstGeom>
          <a:solidFill>
            <a:schemeClr val="lt1"/>
          </a:solidFill>
          <a:ln/>
          <a:effectLst>
            <a:softEdge rad="3810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 lang="ko-KR"/>
            </a:pPr>
            <a:endParaRPr lang="ko-KR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6507CEC-2D91-A38D-C865-230669CDB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4" t="13412" r="31664" b="74496"/>
          <a:stretch>
            <a:fillRect/>
          </a:stretch>
        </p:blipFill>
        <p:spPr bwMode="auto">
          <a:xfrm>
            <a:off x="10067925" y="6215063"/>
            <a:ext cx="199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그룹 9">
            <a:extLst>
              <a:ext uri="{FF2B5EF4-FFF2-40B4-BE49-F238E27FC236}">
                <a16:creationId xmlns:a16="http://schemas.microsoft.com/office/drawing/2014/main" id="{95D16281-9A43-87FC-BF4E-00A520BF789A}"/>
              </a:ext>
            </a:extLst>
          </p:cNvPr>
          <p:cNvGrpSpPr>
            <a:grpSpLocks/>
          </p:cNvGrpSpPr>
          <p:nvPr/>
        </p:nvGrpSpPr>
        <p:grpSpPr bwMode="auto">
          <a:xfrm>
            <a:off x="976313" y="1612900"/>
            <a:ext cx="6805612" cy="1223963"/>
            <a:chOff x="3221517" y="2287799"/>
            <a:chExt cx="8928605" cy="1223412"/>
          </a:xfrm>
        </p:grpSpPr>
        <p:sp>
          <p:nvSpPr>
            <p:cNvPr id="34821" name="TextBox 16">
              <a:extLst>
                <a:ext uri="{FF2B5EF4-FFF2-40B4-BE49-F238E27FC236}">
                  <a16:creationId xmlns:a16="http://schemas.microsoft.com/office/drawing/2014/main" id="{4B96CED1-AA42-A354-AFA3-B62CC81EA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517" y="2287799"/>
              <a:ext cx="8928605" cy="122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6000" dirty="0">
                  <a:solidFill>
                    <a:schemeClr val="bg1"/>
                  </a:solidFill>
                  <a:latin typeface="KoPubWorld돋움체_Pro Bold" panose="00000800000000000000" pitchFamily="50" charset="-127"/>
                  <a:ea typeface="KoPubWorld돋움체_Pro Bold" panose="00000800000000000000" pitchFamily="50" charset="-127"/>
                  <a:cs typeface="KoPubWorld돋움체_Pro Bold" panose="00000800000000000000" pitchFamily="50" charset="-127"/>
                </a:rPr>
                <a:t>THANK YOU</a:t>
              </a:r>
            </a:p>
          </p:txBody>
        </p:sp>
        <p:sp>
          <p:nvSpPr>
            <p:cNvPr id="34822" name="TextBox 17">
              <a:extLst>
                <a:ext uri="{FF2B5EF4-FFF2-40B4-BE49-F238E27FC236}">
                  <a16:creationId xmlns:a16="http://schemas.microsoft.com/office/drawing/2014/main" id="{87D380C2-3772-7E89-79B1-403B392F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2657" y="2906522"/>
              <a:ext cx="4759038" cy="44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endParaRPr lang="en-US" altLang="ko-KR" dirty="0">
                <a:solidFill>
                  <a:schemeClr val="bg1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endParaRPr>
            </a:p>
          </p:txBody>
        </p:sp>
      </p:grpSp>
      <p:sp>
        <p:nvSpPr>
          <p:cNvPr id="34820" name="TextBox 13">
            <a:extLst>
              <a:ext uri="{FF2B5EF4-FFF2-40B4-BE49-F238E27FC236}">
                <a16:creationId xmlns:a16="http://schemas.microsoft.com/office/drawing/2014/main" id="{51CF03CF-7ED8-F240-D9DC-078F47200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2674938"/>
            <a:ext cx="101933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dirty="0">
                <a:solidFill>
                  <a:schemeClr val="bg1"/>
                </a:solidFill>
                <a:latin typeface="KoPubWorld돋움체_Pro Medium" panose="00000600000000000000" pitchFamily="50" charset="-127"/>
                <a:ea typeface="KoPubWorld돋움체_Pro Medium" panose="00000600000000000000" pitchFamily="50" charset="-127"/>
                <a:cs typeface="KoPubWorld돋움체_Pro Medium" panose="00000600000000000000" pitchFamily="50" charset="-127"/>
              </a:rPr>
              <a:t>Thank you for listening to my presentation</a:t>
            </a:r>
            <a:endParaRPr lang="ko-KR" altLang="en-US" dirty="0">
              <a:solidFill>
                <a:schemeClr val="bg1"/>
              </a:solidFill>
              <a:latin typeface="KoPubWorld돋움체_Pro Medium" panose="00000600000000000000" pitchFamily="50" charset="-127"/>
              <a:ea typeface="KoPubWorld돋움체_Pro Medium" panose="00000600000000000000" pitchFamily="50" charset="-127"/>
              <a:cs typeface="KoPubWorld돋움체_Pro Medium" panose="00000600000000000000" pitchFamily="50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Poppins Medium"/>
        <a:ea typeface="Noto Sans KR Medium"/>
        <a:cs typeface=""/>
      </a:majorFont>
      <a:minorFont>
        <a:latin typeface="Poppins Light"/>
        <a:ea typeface="Noto Sans KR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181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18181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1200" spc="-150" dirty="0" smtClean="0">
            <a:solidFill>
              <a:srgbClr val="181818"/>
            </a:solidFill>
            <a:latin typeface="KoPubWorld돋움체 Medium"/>
            <a:ea typeface="KoPubWorld돋움체 Medium"/>
            <a:cs typeface="KoPubWorld돋움체 Medium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161</Words>
  <Application>Microsoft Office PowerPoint</Application>
  <PresentationFormat>와이드스크린</PresentationFormat>
  <Paragraphs>59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KoPubWorld돋움체_Pro Bold</vt:lpstr>
      <vt:lpstr>KoPubWorld돋움체_Pro Light</vt:lpstr>
      <vt:lpstr>KoPubWorld돋움체_Pro Medium</vt:lpstr>
      <vt:lpstr>Noto Sans KR Light</vt:lpstr>
      <vt:lpstr>Noto Sans KR Medium</vt:lpstr>
      <vt:lpstr>Poppins Light</vt:lpstr>
      <vt:lpstr>나눔명조</vt:lpstr>
      <vt:lpstr>휴먼명조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changsun.h</dc:creator>
  <cp:lastModifiedBy>Sung-Yong</cp:lastModifiedBy>
  <cp:revision>875</cp:revision>
  <dcterms:created xsi:type="dcterms:W3CDTF">2021-06-08T04:56:55Z</dcterms:created>
  <dcterms:modified xsi:type="dcterms:W3CDTF">2024-01-19T01:14:42Z</dcterms:modified>
</cp:coreProperties>
</file>